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DBC0A-B1C4-416D-BB5C-F8C79A8749D1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42C0ED-BD9B-42F7-9A41-EB1D3B0FA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770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42C0ED-BD9B-42F7-9A41-EB1D3B0FA4D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1063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CDB0C-EB55-B111-8E40-08B10DFCBE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2E264A-5C5E-5C37-29E5-B799C41FF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E420CD-1593-1C4D-C295-AE7F67FA2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4EE5E1-D009-E751-B4AD-0588B8A8D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33E27E-5B14-E0D2-E99C-3E60C4E8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967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D9F6B-81DD-4FE1-C2E0-4780119B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75F5C-741B-793D-65E7-5CACA3043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5C662-540D-4CAA-773E-BBE966B89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849224-4D32-5AA2-29E5-0213141B7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3EE92-970A-782C-3AC4-3DF3CC467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57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0EEAD-1FF5-553A-EDD0-B21F65839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532B6-036B-6C03-8124-6721ECF456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E58C4-E2BF-2FA3-7DAF-0CB4DF7DA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C76BA-6BB4-6A8C-5D63-5B271481A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C45F7-B007-BED3-4347-787F27043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358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635F-7791-0872-34EC-7144171F5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CCE796-D7E9-4C40-3D81-6201D53F3F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E5AD47-5D1B-D33D-9C51-0EEB8D6ED5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7AD5B9-0CA8-FE07-074B-8ABDD905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55CDB-DF6B-B434-8178-9A99D663E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F7E4D3-BFAF-B0D3-60B7-3C8BE0A7F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02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A18B-9E48-51F0-6FE5-84BC78731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8943DC-08B3-270D-1F05-42D78D993A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E3F011-7AE9-38C9-699C-0B892F6C07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3CC7C9-097B-FF06-7DF4-E85661E3A5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3C02BC-AC9F-699F-95D7-584D5201C7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7E464B-F45E-FDA4-65AD-142DC8CE3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8C2374-22BB-8BB2-E58A-9DCDF1840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9A1179-780B-236E-AEFA-A52D27CE7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862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74401-D84C-7AD7-65F3-B3AC7A620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9F27D5-0E9C-F772-1E76-7D3C16F54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F023D5-4EBA-3FC0-9AAD-EADA48411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212B8F-0E0A-F5EE-5343-80387F4F5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924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DBC38-1613-E49C-4578-531AEE075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138DCE-EFF4-62F9-88A1-E7CE57F8B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C7E88E-A5D2-E5C6-DB2E-BF3B54893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825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ACC3F-98EA-0E6E-82E0-9DBAAA3B0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F8F72-B63F-AD06-7C28-DAB897202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BF15B-72A9-ABBF-CEC7-9E258C2C6B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4B2A38-E595-E00E-04D4-AA90167F5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0C8FF6-5FC7-FD62-6E82-956C5D3B7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858FB8-7554-881C-02D5-4CCE5178C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764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43B28-8286-8207-704D-687B2A1ED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F52E0A-D4E4-3665-3739-57DD468C75B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EABC65-8EE2-3BBE-176C-57307CCF12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9907FB-4033-1510-6332-1B6DF7A4C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F869A4-1920-79D3-DF8A-4C66060C7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BF2703-528E-767A-BA83-D655864F6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755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FC47B-7F18-FFA5-17D3-D3320E3C3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FDAB0A-4222-AA64-8E76-A04387403E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9011D-26EF-D04E-7C82-391D06477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7887DC-8ECC-F397-700E-7276AE9EF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D55A2-1993-38D0-7856-315F807ED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115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E9C22C-A40A-7666-D71D-18545BD9E1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BA47FA-EC4B-1AC1-1252-1F7B50AB66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1012A-F5F4-B75A-7B8A-5866C8F9A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EFCA17-EF7D-10D2-F6BA-25B8EACDF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B6949-02F9-8F74-CED3-A59850786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395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D3D617-A72A-B3EA-4D94-16D3DBE4D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D9435-B197-C918-D8F8-7909EAE196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FAC81-DF45-B9FB-174B-D4946CC2CA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8595CA-A228-47EE-B499-41A3ED4A3959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4A0E91-B4EF-EC50-C69C-41E87D81E7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B794C-19D6-D57F-6E21-427224158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18C12-EC46-44EF-8BAE-CAFB8E683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443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057D71-4E57-14F1-985E-AA65ACCDA5E7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B0B01-24A3-77C8-D6C0-E08792934F13}"/>
              </a:ext>
            </a:extLst>
          </p:cNvPr>
          <p:cNvSpPr txBox="1"/>
          <p:nvPr/>
        </p:nvSpPr>
        <p:spPr>
          <a:xfrm>
            <a:off x="787400" y="1155700"/>
            <a:ext cx="800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en-US" sz="3100" b="1" dirty="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E88C78-400B-08D7-0FC1-E5755F5D70E5}"/>
              </a:ext>
            </a:extLst>
          </p:cNvPr>
          <p:cNvSpPr/>
          <p:nvPr/>
        </p:nvSpPr>
        <p:spPr>
          <a:xfrm>
            <a:off x="7798209" y="1628735"/>
            <a:ext cx="3834581" cy="39559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4E80A-5475-5FD9-3D74-BAF904118E0C}"/>
              </a:ext>
            </a:extLst>
          </p:cNvPr>
          <p:cNvSpPr txBox="1"/>
          <p:nvPr/>
        </p:nvSpPr>
        <p:spPr>
          <a:xfrm>
            <a:off x="8509000" y="17399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716B66"/>
                </a:solidFill>
                <a:latin typeface="Segoe UI" panose="020B0502040204020203" pitchFamily="34" charset="0"/>
              </a:rPr>
              <a:t>Môn học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10C2D1-70DA-5C03-9697-4DD8B52C45AC}"/>
              </a:ext>
            </a:extLst>
          </p:cNvPr>
          <p:cNvSpPr txBox="1"/>
          <p:nvPr/>
        </p:nvSpPr>
        <p:spPr>
          <a:xfrm>
            <a:off x="8509000" y="2032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22252A"/>
                </a:solidFill>
                <a:latin typeface="Segoe UI" panose="020B0502040204020203" pitchFamily="34" charset="0"/>
              </a:rPr>
              <a:t>Học máy cơ bản
(Machine Learning)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2006A05-10FE-1A2E-DDE3-E133134B32AF}"/>
              </a:ext>
            </a:extLst>
          </p:cNvPr>
          <p:cNvCxnSpPr/>
          <p:nvPr/>
        </p:nvCxnSpPr>
        <p:spPr>
          <a:xfrm>
            <a:off x="8509000" y="2819400"/>
            <a:ext cx="2413000" cy="0"/>
          </a:xfrm>
          <a:prstGeom prst="straightConnector1">
            <a:avLst/>
          </a:prstGeom>
          <a:ln w="10160">
            <a:solidFill>
              <a:srgbClr val="DDD8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2046E-90BE-4647-C000-90152F824509}"/>
              </a:ext>
            </a:extLst>
          </p:cNvPr>
          <p:cNvSpPr txBox="1"/>
          <p:nvPr/>
        </p:nvSpPr>
        <p:spPr>
          <a:xfrm>
            <a:off x="8509000" y="30607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716B66"/>
                </a:solidFill>
                <a:latin typeface="Segoe UI" panose="020B0502040204020203" pitchFamily="34" charset="0"/>
              </a:rPr>
              <a:t>Nhóm sinh viên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4BA3E6-C30C-5366-A42B-422BEE0AF2BD}"/>
              </a:ext>
            </a:extLst>
          </p:cNvPr>
          <p:cNvSpPr txBox="1"/>
          <p:nvPr/>
        </p:nvSpPr>
        <p:spPr>
          <a:xfrm>
            <a:off x="8509000" y="3352800"/>
            <a:ext cx="2476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22252A"/>
                </a:solidFill>
                <a:latin typeface="Segoe UI" panose="020B0502040204020203" pitchFamily="34" charset="0"/>
              </a:rPr>
              <a:t>Nguyễn Văn Vũ — 12523093
Nguyễn Văn Linh — 10123207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F33230D-F5E2-195A-621F-CA6BD4F11D10}"/>
              </a:ext>
            </a:extLst>
          </p:cNvPr>
          <p:cNvCxnSpPr/>
          <p:nvPr/>
        </p:nvCxnSpPr>
        <p:spPr>
          <a:xfrm>
            <a:off x="8509000" y="4203700"/>
            <a:ext cx="2413000" cy="0"/>
          </a:xfrm>
          <a:prstGeom prst="straightConnector1">
            <a:avLst/>
          </a:prstGeom>
          <a:ln w="10160">
            <a:solidFill>
              <a:srgbClr val="DDD8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1E3A6EC-219A-251E-29FB-E9A3BA0B48B9}"/>
              </a:ext>
            </a:extLst>
          </p:cNvPr>
          <p:cNvSpPr txBox="1"/>
          <p:nvPr/>
        </p:nvSpPr>
        <p:spPr>
          <a:xfrm>
            <a:off x="8509000" y="44450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000" b="1">
                <a:solidFill>
                  <a:srgbClr val="716B66"/>
                </a:solidFill>
                <a:latin typeface="Segoe UI" panose="020B0502040204020203" pitchFamily="34" charset="0"/>
              </a:rPr>
              <a:t>Giảng viên hướng dẫn</a:t>
            </a:r>
            <a:endParaRPr lang="en-US" sz="1000" b="1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11CBBB-CF6C-FCFE-237B-F79EE5ABA777}"/>
              </a:ext>
            </a:extLst>
          </p:cNvPr>
          <p:cNvSpPr txBox="1"/>
          <p:nvPr/>
        </p:nvSpPr>
        <p:spPr>
          <a:xfrm>
            <a:off x="8509000" y="4749800"/>
            <a:ext cx="241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00" b="1" dirty="0">
                <a:solidFill>
                  <a:srgbClr val="8C3B47"/>
                </a:solidFill>
                <a:latin typeface="Segoe UI" panose="020B0502040204020203" pitchFamily="34" charset="0"/>
              </a:rPr>
              <a:t>NGUYỄN TUẤN ANH </a:t>
            </a:r>
            <a:endParaRPr lang="en-US" sz="1400" b="1" dirty="0">
              <a:solidFill>
                <a:srgbClr val="8C3B47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3B77C7-DD87-697B-9731-76C7294D3FF0}"/>
              </a:ext>
            </a:extLst>
          </p:cNvPr>
          <p:cNvSpPr txBox="1"/>
          <p:nvPr/>
        </p:nvSpPr>
        <p:spPr>
          <a:xfrm>
            <a:off x="825500" y="60198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en-US" sz="1200" b="1" dirty="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DA632A-B2EE-FFDB-A927-68387B3A3AC8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1</a:t>
            </a:r>
          </a:p>
        </p:txBody>
      </p:sp>
      <p:sp>
        <p:nvSpPr>
          <p:cNvPr id="19" name="Freeform 5">
            <a:extLst>
              <a:ext uri="{FF2B5EF4-FFF2-40B4-BE49-F238E27FC236}">
                <a16:creationId xmlns:a16="http://schemas.microsoft.com/office/drawing/2014/main" id="{089E4574-30A3-85F0-0E47-0D230BBD5F1A}"/>
              </a:ext>
            </a:extLst>
          </p:cNvPr>
          <p:cNvSpPr/>
          <p:nvPr/>
        </p:nvSpPr>
        <p:spPr>
          <a:xfrm>
            <a:off x="342490" y="0"/>
            <a:ext cx="1530575" cy="1571836"/>
          </a:xfrm>
          <a:custGeom>
            <a:avLst/>
            <a:gdLst/>
            <a:ahLst/>
            <a:cxnLst/>
            <a:rect l="l" t="t" r="r" b="b"/>
            <a:pathLst>
              <a:path w="1530575" h="1571836">
                <a:moveTo>
                  <a:pt x="0" y="0"/>
                </a:moveTo>
                <a:lnTo>
                  <a:pt x="1530575" y="0"/>
                </a:lnTo>
                <a:lnTo>
                  <a:pt x="1530575" y="1571836"/>
                </a:lnTo>
                <a:lnTo>
                  <a:pt x="0" y="1571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916AF0-6976-9B54-4F75-326CAEE6C433}"/>
              </a:ext>
            </a:extLst>
          </p:cNvPr>
          <p:cNvSpPr txBox="1"/>
          <p:nvPr/>
        </p:nvSpPr>
        <p:spPr>
          <a:xfrm>
            <a:off x="787400" y="2308999"/>
            <a:ext cx="6655414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3100" b="1" dirty="0">
                <a:solidFill>
                  <a:srgbClr val="22252A"/>
                </a:solidFill>
                <a:latin typeface="Segoe UI" panose="020B0502040204020203" pitchFamily="34" charset="0"/>
              </a:rPr>
              <a:t>XÂY DỰNG HỆ THỐNG
DỰ ĐOÁN CHẤT LƯỢNG
RƯỢU VANG</a:t>
            </a:r>
            <a:endParaRPr lang="en-US" sz="3100" b="1" dirty="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23" name="TextBox 7">
            <a:extLst>
              <a:ext uri="{FF2B5EF4-FFF2-40B4-BE49-F238E27FC236}">
                <a16:creationId xmlns:a16="http://schemas.microsoft.com/office/drawing/2014/main" id="{CF1F7F51-0F8E-EFD2-363E-15DA0DEF7E4E}"/>
              </a:ext>
            </a:extLst>
          </p:cNvPr>
          <p:cNvSpPr txBox="1"/>
          <p:nvPr/>
        </p:nvSpPr>
        <p:spPr>
          <a:xfrm>
            <a:off x="-1101213" y="743723"/>
            <a:ext cx="14414090" cy="4192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2500" dirty="0">
                <a:solidFill>
                  <a:srgbClr val="404969"/>
                </a:solidFill>
                <a:latin typeface="Open Sans 2"/>
                <a:ea typeface="Open Sans 2"/>
                <a:cs typeface="Open Sans 2"/>
                <a:sym typeface="Open Sans 2"/>
              </a:rPr>
              <a:t>TRƯỜNG ĐẠI HỌC </a:t>
            </a:r>
            <a:r>
              <a:rPr lang="vi-VN" sz="2500" dirty="0">
                <a:solidFill>
                  <a:srgbClr val="404969"/>
                </a:solidFill>
                <a:latin typeface="Open Sans 2"/>
                <a:ea typeface="Open Sans 2"/>
                <a:cs typeface="Open Sans 2"/>
                <a:sym typeface="Open Sans 2"/>
              </a:rPr>
              <a:t>CÔNG NGHỆ </a:t>
            </a:r>
            <a:r>
              <a:rPr lang="en-US" sz="2500" dirty="0">
                <a:solidFill>
                  <a:srgbClr val="404969"/>
                </a:solidFill>
                <a:latin typeface="Open Sans 2"/>
                <a:ea typeface="Open Sans 2"/>
                <a:cs typeface="Open Sans 2"/>
                <a:sym typeface="Open Sans 2"/>
              </a:rPr>
              <a:t>KỸ THUẬT HƯNG YÊN</a:t>
            </a:r>
          </a:p>
        </p:txBody>
      </p:sp>
      <p:sp>
        <p:nvSpPr>
          <p:cNvPr id="25" name="Freeform 6">
            <a:extLst>
              <a:ext uri="{FF2B5EF4-FFF2-40B4-BE49-F238E27FC236}">
                <a16:creationId xmlns:a16="http://schemas.microsoft.com/office/drawing/2014/main" id="{B08A97A4-6AF2-C3A4-2FBB-71C8F4AEAD31}"/>
              </a:ext>
            </a:extLst>
          </p:cNvPr>
          <p:cNvSpPr/>
          <p:nvPr/>
        </p:nvSpPr>
        <p:spPr>
          <a:xfrm>
            <a:off x="16293525" y="123538"/>
            <a:ext cx="1674065" cy="1674065"/>
          </a:xfrm>
          <a:custGeom>
            <a:avLst/>
            <a:gdLst/>
            <a:ahLst/>
            <a:cxnLst/>
            <a:rect l="l" t="t" r="r" b="b"/>
            <a:pathLst>
              <a:path w="1674065" h="1674065">
                <a:moveTo>
                  <a:pt x="0" y="0"/>
                </a:moveTo>
                <a:lnTo>
                  <a:pt x="1674065" y="0"/>
                </a:lnTo>
                <a:lnTo>
                  <a:pt x="1674065" y="1674066"/>
                </a:lnTo>
                <a:lnTo>
                  <a:pt x="0" y="16740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7" name="Freeform 6">
            <a:extLst>
              <a:ext uri="{FF2B5EF4-FFF2-40B4-BE49-F238E27FC236}">
                <a16:creationId xmlns:a16="http://schemas.microsoft.com/office/drawing/2014/main" id="{985EEAD5-CB62-CE9B-8C45-5A1673D98001}"/>
              </a:ext>
            </a:extLst>
          </p:cNvPr>
          <p:cNvSpPr/>
          <p:nvPr/>
        </p:nvSpPr>
        <p:spPr>
          <a:xfrm>
            <a:off x="16445925" y="275938"/>
            <a:ext cx="1674065" cy="1674065"/>
          </a:xfrm>
          <a:custGeom>
            <a:avLst/>
            <a:gdLst/>
            <a:ahLst/>
            <a:cxnLst/>
            <a:rect l="l" t="t" r="r" b="b"/>
            <a:pathLst>
              <a:path w="1674065" h="1674065">
                <a:moveTo>
                  <a:pt x="0" y="0"/>
                </a:moveTo>
                <a:lnTo>
                  <a:pt x="1674065" y="0"/>
                </a:lnTo>
                <a:lnTo>
                  <a:pt x="1674065" y="1674066"/>
                </a:lnTo>
                <a:lnTo>
                  <a:pt x="0" y="16740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9" name="Freeform 6">
            <a:extLst>
              <a:ext uri="{FF2B5EF4-FFF2-40B4-BE49-F238E27FC236}">
                <a16:creationId xmlns:a16="http://schemas.microsoft.com/office/drawing/2014/main" id="{537C7407-DC03-862E-66C6-61ADFE84A03F}"/>
              </a:ext>
            </a:extLst>
          </p:cNvPr>
          <p:cNvSpPr/>
          <p:nvPr/>
        </p:nvSpPr>
        <p:spPr>
          <a:xfrm>
            <a:off x="16598325" y="428338"/>
            <a:ext cx="1674065" cy="1674065"/>
          </a:xfrm>
          <a:custGeom>
            <a:avLst/>
            <a:gdLst/>
            <a:ahLst/>
            <a:cxnLst/>
            <a:rect l="l" t="t" r="r" b="b"/>
            <a:pathLst>
              <a:path w="1674065" h="1674065">
                <a:moveTo>
                  <a:pt x="0" y="0"/>
                </a:moveTo>
                <a:lnTo>
                  <a:pt x="1674065" y="0"/>
                </a:lnTo>
                <a:lnTo>
                  <a:pt x="1674065" y="1674066"/>
                </a:lnTo>
                <a:lnTo>
                  <a:pt x="0" y="16740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1" name="Freeform 6">
            <a:extLst>
              <a:ext uri="{FF2B5EF4-FFF2-40B4-BE49-F238E27FC236}">
                <a16:creationId xmlns:a16="http://schemas.microsoft.com/office/drawing/2014/main" id="{44001786-3875-D0C3-1034-E2483D8626EF}"/>
              </a:ext>
            </a:extLst>
          </p:cNvPr>
          <p:cNvSpPr/>
          <p:nvPr/>
        </p:nvSpPr>
        <p:spPr>
          <a:xfrm>
            <a:off x="14842285" y="7810508"/>
            <a:ext cx="1674065" cy="1674065"/>
          </a:xfrm>
          <a:custGeom>
            <a:avLst/>
            <a:gdLst/>
            <a:ahLst/>
            <a:cxnLst/>
            <a:rect l="l" t="t" r="r" b="b"/>
            <a:pathLst>
              <a:path w="1674065" h="1674065">
                <a:moveTo>
                  <a:pt x="0" y="0"/>
                </a:moveTo>
                <a:lnTo>
                  <a:pt x="1674065" y="0"/>
                </a:lnTo>
                <a:lnTo>
                  <a:pt x="1674065" y="1674066"/>
                </a:lnTo>
                <a:lnTo>
                  <a:pt x="0" y="16740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3" name="Freeform 6">
            <a:extLst>
              <a:ext uri="{FF2B5EF4-FFF2-40B4-BE49-F238E27FC236}">
                <a16:creationId xmlns:a16="http://schemas.microsoft.com/office/drawing/2014/main" id="{3E61DF13-7B21-5C40-49E4-03E253122F0A}"/>
              </a:ext>
            </a:extLst>
          </p:cNvPr>
          <p:cNvSpPr/>
          <p:nvPr/>
        </p:nvSpPr>
        <p:spPr>
          <a:xfrm>
            <a:off x="14994685" y="7962908"/>
            <a:ext cx="1674065" cy="1674065"/>
          </a:xfrm>
          <a:custGeom>
            <a:avLst/>
            <a:gdLst/>
            <a:ahLst/>
            <a:cxnLst/>
            <a:rect l="l" t="t" r="r" b="b"/>
            <a:pathLst>
              <a:path w="1674065" h="1674065">
                <a:moveTo>
                  <a:pt x="0" y="0"/>
                </a:moveTo>
                <a:lnTo>
                  <a:pt x="1674065" y="0"/>
                </a:lnTo>
                <a:lnTo>
                  <a:pt x="1674065" y="1674066"/>
                </a:lnTo>
                <a:lnTo>
                  <a:pt x="0" y="16740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95EFD1F-20BE-E210-2116-7BCEBFC114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6695" y="-55403"/>
            <a:ext cx="1676545" cy="168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801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C4AAC-EB03-64E1-7683-EE6CFE739F54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2800" b="1">
                <a:solidFill>
                  <a:srgbClr val="22252A"/>
                </a:solidFill>
                <a:latin typeface="Segoe UI" panose="020B0502040204020203" pitchFamily="34" charset="0"/>
              </a:rPr>
              <a:t>Vì sao cần dự đoán chất lượng rượu vang?</a:t>
            </a:r>
            <a:endParaRPr lang="en-US" sz="2800" b="1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405D3F-5AA0-B3BE-AA65-E327534E3081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GIỚI THIỆU ĐỀ TÀI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947C1E-BAF9-5C74-67A3-10EB9737CFDC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23F6C9-96A7-D35A-19B3-B5A22A50F5AC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071D3-2F20-1031-D1EF-CEEF838148A8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96AD1E8-66DC-98BA-747A-DE0B1CCE960D}"/>
              </a:ext>
            </a:extLst>
          </p:cNvPr>
          <p:cNvSpPr/>
          <p:nvPr/>
        </p:nvSpPr>
        <p:spPr>
          <a:xfrm>
            <a:off x="609600" y="1676400"/>
            <a:ext cx="5207000" cy="172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E5CF7F-12FA-94AE-4517-DA145B382C64}"/>
              </a:ext>
            </a:extLst>
          </p:cNvPr>
          <p:cNvSpPr txBox="1"/>
          <p:nvPr/>
        </p:nvSpPr>
        <p:spPr>
          <a:xfrm>
            <a:off x="889000" y="1930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BỐI CẢNH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913E62-C429-FBF7-C6B5-4D351D2754FE}"/>
              </a:ext>
            </a:extLst>
          </p:cNvPr>
          <p:cNvSpPr txBox="1"/>
          <p:nvPr/>
        </p:nvSpPr>
        <p:spPr>
          <a:xfrm>
            <a:off x="889000" y="2336800"/>
            <a:ext cx="464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550">
                <a:solidFill>
                  <a:srgbClr val="22252A"/>
                </a:solidFill>
                <a:latin typeface="Segoe UI" panose="020B0502040204020203" pitchFamily="34" charset="0"/>
              </a:rPr>
              <a:t>Đánh giá cảm quan cần chuyên gia, tốn thời gian và kết quả có thể khác nhau giữa người chấm.</a:t>
            </a:r>
            <a:endParaRPr lang="en-US" sz="15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84EED3E-DEBF-9AA1-22A4-218073638239}"/>
              </a:ext>
            </a:extLst>
          </p:cNvPr>
          <p:cNvSpPr/>
          <p:nvPr/>
        </p:nvSpPr>
        <p:spPr>
          <a:xfrm>
            <a:off x="6375400" y="1676400"/>
            <a:ext cx="5207000" cy="17272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745C45-9367-7075-0068-B23E776A63B0}"/>
              </a:ext>
            </a:extLst>
          </p:cNvPr>
          <p:cNvSpPr txBox="1"/>
          <p:nvPr/>
        </p:nvSpPr>
        <p:spPr>
          <a:xfrm>
            <a:off x="6654800" y="19304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MỤC TIÊU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F477E5-C82D-266F-21E7-2A96D884AE83}"/>
              </a:ext>
            </a:extLst>
          </p:cNvPr>
          <p:cNvSpPr txBox="1"/>
          <p:nvPr/>
        </p:nvSpPr>
        <p:spPr>
          <a:xfrm>
            <a:off x="6654800" y="2336800"/>
            <a:ext cx="464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550">
                <a:solidFill>
                  <a:srgbClr val="22252A"/>
                </a:solidFill>
                <a:latin typeface="Segoe UI" panose="020B0502040204020203" pitchFamily="34" charset="0"/>
              </a:rPr>
              <a:t>Khai thác dữ liệu hóa lý để ước lượng quality, hỗ trợ sàng lọc mẫu nhanh và nhất quán.</a:t>
            </a:r>
            <a:endParaRPr lang="en-US" sz="15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1D489CB-8A86-01E2-C3F8-B60EBA4B0DA5}"/>
              </a:ext>
            </a:extLst>
          </p:cNvPr>
          <p:cNvSpPr/>
          <p:nvPr/>
        </p:nvSpPr>
        <p:spPr>
          <a:xfrm>
            <a:off x="609600" y="3721100"/>
            <a:ext cx="5207000" cy="172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BE6059-DE4F-B271-73D5-33F289CBFFFC}"/>
              </a:ext>
            </a:extLst>
          </p:cNvPr>
          <p:cNvSpPr txBox="1"/>
          <p:nvPr/>
        </p:nvSpPr>
        <p:spPr>
          <a:xfrm>
            <a:off x="889000" y="39751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CÁCH TIẾP CẬN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AA5E5E-7C58-6CA9-B721-E8EDC52CB05C}"/>
              </a:ext>
            </a:extLst>
          </p:cNvPr>
          <p:cNvSpPr txBox="1"/>
          <p:nvPr/>
        </p:nvSpPr>
        <p:spPr>
          <a:xfrm>
            <a:off x="889000" y="4381500"/>
            <a:ext cx="464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50">
                <a:solidFill>
                  <a:srgbClr val="22252A"/>
                </a:solidFill>
                <a:latin typeface="Segoe UI" panose="020B0502040204020203" pitchFamily="34" charset="0"/>
              </a:rPr>
              <a:t>Phân tích EDA → so sánh 4 thuật toán hồi quy → tinh chỉnh → triển khai thành hệ thống dự đoán.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4C6D2F0-B6D5-F3D6-B89E-5CBDC28C4552}"/>
              </a:ext>
            </a:extLst>
          </p:cNvPr>
          <p:cNvSpPr/>
          <p:nvPr/>
        </p:nvSpPr>
        <p:spPr>
          <a:xfrm>
            <a:off x="6375400" y="3721100"/>
            <a:ext cx="5207000" cy="172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C93055-0BC6-44FC-9815-F24500547AD2}"/>
              </a:ext>
            </a:extLst>
          </p:cNvPr>
          <p:cNvSpPr txBox="1"/>
          <p:nvPr/>
        </p:nvSpPr>
        <p:spPr>
          <a:xfrm>
            <a:off x="6654800" y="3975100"/>
            <a:ext cx="444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PHẠM VI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3BC93F-D324-EC38-B1A0-3A5767F5A8B2}"/>
              </a:ext>
            </a:extLst>
          </p:cNvPr>
          <p:cNvSpPr txBox="1"/>
          <p:nvPr/>
        </p:nvSpPr>
        <p:spPr>
          <a:xfrm>
            <a:off x="6654800" y="4381500"/>
            <a:ext cx="464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550">
                <a:solidFill>
                  <a:srgbClr val="22252A"/>
                </a:solidFill>
                <a:latin typeface="Segoe UI" panose="020B0502040204020203" pitchFamily="34" charset="0"/>
              </a:rPr>
              <a:t>Tập trung vào rượu vang đỏ Vinho Verde. Mô hình hỗ trợ quyết định, không thay thế chuyên gia cảm quan.</a:t>
            </a:r>
            <a:endParaRPr lang="en-US" sz="15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D3311D-EF36-5BC8-2554-5BF5DD5AC0F7}"/>
              </a:ext>
            </a:extLst>
          </p:cNvPr>
          <p:cNvSpPr txBox="1"/>
          <p:nvPr/>
        </p:nvSpPr>
        <p:spPr>
          <a:xfrm>
            <a:off x="609600" y="58420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00" dirty="0">
                <a:solidFill>
                  <a:srgbClr val="716B66"/>
                </a:solidFill>
                <a:latin typeface="Segoe UI" panose="020B0502040204020203" pitchFamily="34" charset="0"/>
              </a:rPr>
              <a:t>Bài toán được xây dựng như một hệ thống hỗ trợ kiểm soát chất lượng dựa trên dữ liệu.</a:t>
            </a:r>
            <a:endParaRPr lang="en-US" sz="1400" dirty="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7421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4193F9-0345-8080-8524-6138D724A962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22252A"/>
                </a:solidFill>
                <a:latin typeface="Segoe UI" panose="020B0502040204020203" pitchFamily="34" charset="0"/>
              </a:rPr>
              <a:t>Dataset: nguồn gốc và ý nghĩa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0927FC-5837-248B-CE41-461E9E1C8A58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RED WINE QUALITY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D0FC16-370D-E9BA-5102-E2B6D7268A39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005378-15E7-4953-CF78-829E35F525A3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81BE72-8752-F98F-387A-8E91A8D1EB4D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7FF3D39-3039-FD1B-CFB7-7594631B109A}"/>
              </a:ext>
            </a:extLst>
          </p:cNvPr>
          <p:cNvSpPr/>
          <p:nvPr/>
        </p:nvSpPr>
        <p:spPr>
          <a:xfrm>
            <a:off x="609600" y="1612900"/>
            <a:ext cx="3835400" cy="41783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EBDA56-D33A-2E79-B788-4BD26A6AECCA}"/>
              </a:ext>
            </a:extLst>
          </p:cNvPr>
          <p:cNvSpPr txBox="1"/>
          <p:nvPr/>
        </p:nvSpPr>
        <p:spPr>
          <a:xfrm>
            <a:off x="914400" y="19177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NGUỒN DỮ LIỆU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FBCBC0-A017-FF0F-94D3-4BB8BAA11D59}"/>
              </a:ext>
            </a:extLst>
          </p:cNvPr>
          <p:cNvSpPr txBox="1"/>
          <p:nvPr/>
        </p:nvSpPr>
        <p:spPr>
          <a:xfrm>
            <a:off x="914400" y="2336800"/>
            <a:ext cx="298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22252A"/>
                </a:solidFill>
                <a:latin typeface="Segoe UI" panose="020B0502040204020203" pitchFamily="34" charset="0"/>
              </a:rPr>
              <a:t>UCI Machine Learning
Repository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8D06BB-0146-2B04-BB7C-30BFE9A50A96}"/>
              </a:ext>
            </a:extLst>
          </p:cNvPr>
          <p:cNvSpPr txBox="1"/>
          <p:nvPr/>
        </p:nvSpPr>
        <p:spPr>
          <a:xfrm>
            <a:off x="914400" y="3263900"/>
            <a:ext cx="298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50">
                <a:solidFill>
                  <a:srgbClr val="22252A"/>
                </a:solidFill>
                <a:latin typeface="Segoe UI" panose="020B0502040204020203" pitchFamily="34" charset="0"/>
              </a:rPr>
              <a:t>Wine Quality Dataset
Cortez và cộng sự, 2009
Rượu vang Vinho Verde — Bồ Đào Nha</a:t>
            </a:r>
            <a:endParaRPr lang="en-US" sz="14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520FB84-BB7A-7B4E-63E0-C6384637EA7A}"/>
              </a:ext>
            </a:extLst>
          </p:cNvPr>
          <p:cNvCxnSpPr/>
          <p:nvPr/>
        </p:nvCxnSpPr>
        <p:spPr>
          <a:xfrm>
            <a:off x="914400" y="4584700"/>
            <a:ext cx="3225800" cy="0"/>
          </a:xfrm>
          <a:prstGeom prst="straightConnector1">
            <a:avLst/>
          </a:prstGeom>
          <a:ln w="10160">
            <a:solidFill>
              <a:srgbClr val="DDD8D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5343CD6-64B1-53BD-C7A9-206E39E29489}"/>
              </a:ext>
            </a:extLst>
          </p:cNvPr>
          <p:cNvSpPr txBox="1"/>
          <p:nvPr/>
        </p:nvSpPr>
        <p:spPr>
          <a:xfrm>
            <a:off x="914400" y="4813300"/>
            <a:ext cx="298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50">
                <a:solidFill>
                  <a:srgbClr val="716B66"/>
                </a:solidFill>
                <a:latin typeface="Segoe UI" panose="020B0502040204020203" pitchFamily="34" charset="0"/>
              </a:rPr>
              <a:t>DOI: 10.24432/C56S3T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D4FDF7-8E9D-0631-C38C-DDC2D2FF4DD0}"/>
              </a:ext>
            </a:extLst>
          </p:cNvPr>
          <p:cNvSpPr txBox="1"/>
          <p:nvPr/>
        </p:nvSpPr>
        <p:spPr>
          <a:xfrm>
            <a:off x="914400" y="5219700"/>
            <a:ext cx="298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150">
                <a:solidFill>
                  <a:srgbClr val="716B66"/>
                </a:solidFill>
                <a:latin typeface="Segoe UI" panose="020B0502040204020203" pitchFamily="34" charset="0"/>
              </a:rPr>
              <a:t>Nguồn công khai, thường dùng cho bài toán hồi quy và phân loại chất lượng rượu.</a:t>
            </a:r>
            <a:endParaRPr lang="en-US" sz="115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64CC7D3-8868-1B32-3AB4-10843C5E4F4A}"/>
              </a:ext>
            </a:extLst>
          </p:cNvPr>
          <p:cNvSpPr/>
          <p:nvPr/>
        </p:nvSpPr>
        <p:spPr>
          <a:xfrm>
            <a:off x="4800600" y="1612900"/>
            <a:ext cx="6781800" cy="41783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EEC2D9-C8C5-FF5E-ABF0-440E1E5045BA}"/>
              </a:ext>
            </a:extLst>
          </p:cNvPr>
          <p:cNvSpPr txBox="1"/>
          <p:nvPr/>
        </p:nvSpPr>
        <p:spPr>
          <a:xfrm>
            <a:off x="5105400" y="19177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MÔ TẢ DATASET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56C23E-266C-0F8C-2FB0-B349E74A05F9}"/>
              </a:ext>
            </a:extLst>
          </p:cNvPr>
          <p:cNvSpPr txBox="1"/>
          <p:nvPr/>
        </p:nvSpPr>
        <p:spPr>
          <a:xfrm>
            <a:off x="5105400" y="2413000"/>
            <a:ext cx="596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22252A"/>
                </a:solidFill>
                <a:latin typeface="Segoe UI" panose="020B0502040204020203" pitchFamily="34" charset="0"/>
              </a:rPr>
              <a:t>•  1.599 mẫu ban đầu, 12 cột: 11 thuộc tính hóa lý và 1 biến quality.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F12771-A41E-7AC4-C39E-A62A9DE41798}"/>
              </a:ext>
            </a:extLst>
          </p:cNvPr>
          <p:cNvSpPr txBox="1"/>
          <p:nvPr/>
        </p:nvSpPr>
        <p:spPr>
          <a:xfrm>
            <a:off x="5105400" y="3136900"/>
            <a:ext cx="596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20">
                <a:solidFill>
                  <a:srgbClr val="22252A"/>
                </a:solidFill>
                <a:latin typeface="Segoe UI" panose="020B0502040204020203" pitchFamily="34" charset="0"/>
              </a:rPr>
              <a:t>•  Các thuộc tính được đo trong phòng thí nghiệm; quality là điểm cảm quan từ 3 đến 8.</a:t>
            </a:r>
            <a:endParaRPr lang="en-US" sz="142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11B175-C7D4-F537-E452-0C8F5C0B8043}"/>
              </a:ext>
            </a:extLst>
          </p:cNvPr>
          <p:cNvSpPr txBox="1"/>
          <p:nvPr/>
        </p:nvSpPr>
        <p:spPr>
          <a:xfrm>
            <a:off x="5105400" y="3860800"/>
            <a:ext cx="596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22252A"/>
                </a:solidFill>
                <a:latin typeface="Segoe UI" panose="020B0502040204020203" pitchFamily="34" charset="0"/>
              </a:rPr>
              <a:t>•  Dữ liệu gốc không thiếu giá trị; loại 240 dòng trùng còn 1.359 mẫu.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3B6C48-BE19-01DD-A486-E208937F9485}"/>
              </a:ext>
            </a:extLst>
          </p:cNvPr>
          <p:cNvSpPr txBox="1"/>
          <p:nvPr/>
        </p:nvSpPr>
        <p:spPr>
          <a:xfrm>
            <a:off x="5105400" y="4584700"/>
            <a:ext cx="596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20">
                <a:solidFill>
                  <a:srgbClr val="22252A"/>
                </a:solidFill>
                <a:latin typeface="Segoe UI" panose="020B0502040204020203" pitchFamily="34" charset="0"/>
              </a:rPr>
              <a:t>•  Quality mang yếu tố chủ quan, nên cùng thông số hóa lý vẫn có thể nhận điểm khác nhau.</a:t>
            </a:r>
          </a:p>
        </p:txBody>
      </p:sp>
    </p:spTree>
    <p:extLst>
      <p:ext uri="{BB962C8B-B14F-4D97-AF65-F5344CB8AC3E}">
        <p14:creationId xmlns:p14="http://schemas.microsoft.com/office/powerpoint/2010/main" val="1659277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6F9457-5DF4-C22C-36A1-2C25AA7EFF89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2800" b="1">
                <a:solidFill>
                  <a:srgbClr val="22252A"/>
                </a:solidFill>
                <a:latin typeface="Segoe UI" panose="020B0502040204020203" pitchFamily="34" charset="0"/>
              </a:rPr>
              <a:t>Phân bố điểm chất lượng</a:t>
            </a:r>
            <a:endParaRPr lang="en-US" sz="2800" b="1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6AE3C3-C09A-9548-7226-8C896565EF2A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EDA 01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305E8A-6D86-7109-8624-690E4F375880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9B9F1-A82F-D97F-28F4-883FEA59F13B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98BD07-A16F-D812-60EB-46196030CFAD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61610B3-F55B-1C37-C307-A1328CF69FAB}"/>
              </a:ext>
            </a:extLst>
          </p:cNvPr>
          <p:cNvSpPr/>
          <p:nvPr/>
        </p:nvSpPr>
        <p:spPr>
          <a:xfrm>
            <a:off x="558800" y="1536700"/>
            <a:ext cx="7848600" cy="4445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C24E6E9-C24B-C140-621E-162DF5BAA95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97" y="1587500"/>
            <a:ext cx="7015806" cy="43434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C2D3CB-DD06-86DA-6E7D-503D9FDA4D1E}"/>
              </a:ext>
            </a:extLst>
          </p:cNvPr>
          <p:cNvSpPr/>
          <p:nvPr/>
        </p:nvSpPr>
        <p:spPr>
          <a:xfrm>
            <a:off x="8763000" y="1587500"/>
            <a:ext cx="2819400" cy="4343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388544-7E38-ED8C-13F5-F59877C44461}"/>
              </a:ext>
            </a:extLst>
          </p:cNvPr>
          <p:cNvSpPr txBox="1"/>
          <p:nvPr/>
        </p:nvSpPr>
        <p:spPr>
          <a:xfrm>
            <a:off x="9067800" y="23876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80">
                <a:solidFill>
                  <a:srgbClr val="22252A"/>
                </a:solidFill>
                <a:latin typeface="Segoe UI" panose="020B0502040204020203" pitchFamily="34" charset="0"/>
              </a:rPr>
              <a:t>•  Mỗi cột biểu diễn số mẫu ở một mức quality trên dữ liệu ban đầu.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BF4511-ECDD-54A5-3360-8AA935182465}"/>
              </a:ext>
            </a:extLst>
          </p:cNvPr>
          <p:cNvSpPr txBox="1"/>
          <p:nvPr/>
        </p:nvSpPr>
        <p:spPr>
          <a:xfrm>
            <a:off x="9067800" y="34544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80">
                <a:solidFill>
                  <a:srgbClr val="22252A"/>
                </a:solidFill>
                <a:latin typeface="Segoe UI" panose="020B0502040204020203" pitchFamily="34" charset="0"/>
              </a:rPr>
              <a:t>•  Điểm 5 và 6 chiếm phần lớn; điểm 3 và 8 chỉ có rất ít mẫu.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A448C6-1E0B-968E-B4E7-8A638B96B1F5}"/>
              </a:ext>
            </a:extLst>
          </p:cNvPr>
          <p:cNvSpPr txBox="1"/>
          <p:nvPr/>
        </p:nvSpPr>
        <p:spPr>
          <a:xfrm>
            <a:off x="9067800" y="45212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80">
                <a:solidFill>
                  <a:srgbClr val="22252A"/>
                </a:solidFill>
                <a:latin typeface="Segoe UI" panose="020B0502040204020203" pitchFamily="34" charset="0"/>
              </a:rPr>
              <a:t>•  Dữ liệu mất cân bằng nên kết quả dễ bị chi phối bởi nhóm 5–6; cần chú ý nhóm hiếm.</a:t>
            </a:r>
          </a:p>
        </p:txBody>
      </p:sp>
    </p:spTree>
    <p:extLst>
      <p:ext uri="{BB962C8B-B14F-4D97-AF65-F5344CB8AC3E}">
        <p14:creationId xmlns:p14="http://schemas.microsoft.com/office/powerpoint/2010/main" val="3777395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F7347B-BFC7-8466-1D95-DC11A292EEFB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22252A"/>
                </a:solidFill>
                <a:latin typeface="Segoe UI" panose="020B0502040204020203" pitchFamily="34" charset="0"/>
              </a:rPr>
              <a:t>Phân bố nồng độ cồn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AD1207-343C-6905-43F8-F9F3FA34BBAE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EDA 02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D6625E-5A13-C103-E75E-CB1D374CC244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18579-1E3B-F6A0-D49B-C25B28CFC348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CDD4A4-5696-2DA5-1A63-D340AD6222B8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EFC3988-090F-6188-C6E0-EC6AD6890321}"/>
              </a:ext>
            </a:extLst>
          </p:cNvPr>
          <p:cNvSpPr/>
          <p:nvPr/>
        </p:nvSpPr>
        <p:spPr>
          <a:xfrm>
            <a:off x="558800" y="1536700"/>
            <a:ext cx="7848600" cy="4445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D1441-AC63-C049-8587-8A3C725C611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97" y="1587500"/>
            <a:ext cx="7015806" cy="43434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C168D17-69AC-CB00-6332-6DBF1084D0FA}"/>
              </a:ext>
            </a:extLst>
          </p:cNvPr>
          <p:cNvSpPr/>
          <p:nvPr/>
        </p:nvSpPr>
        <p:spPr>
          <a:xfrm>
            <a:off x="8763000" y="1587500"/>
            <a:ext cx="2819400" cy="4343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F2930-D914-381E-F9B6-77A364FF31CD}"/>
              </a:ext>
            </a:extLst>
          </p:cNvPr>
          <p:cNvSpPr txBox="1"/>
          <p:nvPr/>
        </p:nvSpPr>
        <p:spPr>
          <a:xfrm>
            <a:off x="9067800" y="1917700"/>
            <a:ext cx="215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en-US" sz="1000" b="1" dirty="0">
              <a:solidFill>
                <a:srgbClr val="8C3B4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14FB35-14BD-1D94-C167-7C8A7BB802F0}"/>
              </a:ext>
            </a:extLst>
          </p:cNvPr>
          <p:cNvSpPr txBox="1"/>
          <p:nvPr/>
        </p:nvSpPr>
        <p:spPr>
          <a:xfrm>
            <a:off x="9067800" y="23876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80">
                <a:solidFill>
                  <a:srgbClr val="22252A"/>
                </a:solidFill>
                <a:latin typeface="Segoe UI" panose="020B0502040204020203" pitchFamily="34" charset="0"/>
              </a:rPr>
              <a:t>•  Histogram cho biết tần suất; đường cong thể hiện xu hướng phân bố.</a:t>
            </a:r>
            <a:endParaRPr lang="en-US" sz="138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852F7D-C461-4151-1E56-6882A1363AF6}"/>
              </a:ext>
            </a:extLst>
          </p:cNvPr>
          <p:cNvSpPr txBox="1"/>
          <p:nvPr/>
        </p:nvSpPr>
        <p:spPr>
          <a:xfrm>
            <a:off x="9067800" y="34544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80">
                <a:solidFill>
                  <a:srgbClr val="22252A"/>
                </a:solidFill>
                <a:latin typeface="Segoe UI" panose="020B0502040204020203" pitchFamily="34" charset="0"/>
              </a:rPr>
              <a:t>•  Phần lớn mẫu nằm khoảng 9–11% alcohol; đuôi phải kéo dài đến 14,9%.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720B16-4C14-B943-5D41-61D7DCD88C42}"/>
              </a:ext>
            </a:extLst>
          </p:cNvPr>
          <p:cNvSpPr txBox="1"/>
          <p:nvPr/>
        </p:nvSpPr>
        <p:spPr>
          <a:xfrm>
            <a:off x="9067800" y="45212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80">
                <a:solidFill>
                  <a:srgbClr val="22252A"/>
                </a:solidFill>
                <a:latin typeface="Segoe UI" panose="020B0502040204020203" pitchFamily="34" charset="0"/>
              </a:rPr>
              <a:t>•  Phân bố lệch và khác thang đo, vì vậy Linear/Ridge cần dữ liệu được chuẩn hóa.</a:t>
            </a:r>
            <a:endParaRPr lang="en-US" sz="138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95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2CC8C9-182F-99A9-FC7D-B27ACCAA3D9D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22252A"/>
                </a:solidFill>
                <a:latin typeface="Segoe UI" panose="020B0502040204020203" pitchFamily="34" charset="0"/>
              </a:rPr>
              <a:t>Alcohol và quality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18AB4-DA05-388D-67C4-7EA710DDA8D2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EDA 03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B41B4F-67EE-019A-A5C1-3BE47F6566C7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7B7E53-2783-69AF-7AAE-AFECC145062F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26556A-B594-694D-33B6-B19AE8AB2901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2B5596A-051A-5184-2057-CFA094199245}"/>
              </a:ext>
            </a:extLst>
          </p:cNvPr>
          <p:cNvSpPr/>
          <p:nvPr/>
        </p:nvSpPr>
        <p:spPr>
          <a:xfrm>
            <a:off x="558800" y="1536700"/>
            <a:ext cx="7848600" cy="4445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1465B52-9B42-9550-9A9D-00F6B2E7098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716" y="1587500"/>
            <a:ext cx="7018768" cy="43434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1AC2F17-C5C5-22CF-3F83-FCEE574322D8}"/>
              </a:ext>
            </a:extLst>
          </p:cNvPr>
          <p:cNvSpPr/>
          <p:nvPr/>
        </p:nvSpPr>
        <p:spPr>
          <a:xfrm>
            <a:off x="8763000" y="1587500"/>
            <a:ext cx="2819400" cy="4343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A97C99-5263-44C5-4E88-981F6382E229}"/>
              </a:ext>
            </a:extLst>
          </p:cNvPr>
          <p:cNvSpPr txBox="1"/>
          <p:nvPr/>
        </p:nvSpPr>
        <p:spPr>
          <a:xfrm>
            <a:off x="9067800" y="23876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80">
                <a:solidFill>
                  <a:srgbClr val="22252A"/>
                </a:solidFill>
                <a:latin typeface="Segoe UI" panose="020B0502040204020203" pitchFamily="34" charset="0"/>
              </a:rPr>
              <a:t>•  Đường giữa hộp là trung vị; hộp mô tả 50% dữ liệu trung tâm.</a:t>
            </a:r>
            <a:endParaRPr lang="en-US" sz="138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B87B4-6D81-68D8-15EB-E15911B84CD5}"/>
              </a:ext>
            </a:extLst>
          </p:cNvPr>
          <p:cNvSpPr txBox="1"/>
          <p:nvPr/>
        </p:nvSpPr>
        <p:spPr>
          <a:xfrm>
            <a:off x="9067800" y="34544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80">
                <a:solidFill>
                  <a:srgbClr val="22252A"/>
                </a:solidFill>
                <a:latin typeface="Segoe UI" panose="020B0502040204020203" pitchFamily="34" charset="0"/>
              </a:rPr>
              <a:t>•  Trung vị alcohol tăng rõ ở nhóm quality 7–8, cho thấy quan hệ dương.</a:t>
            </a:r>
            <a:endParaRPr lang="en-US" sz="138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D3759C-3BA6-EF0B-FDE6-034057893A9F}"/>
              </a:ext>
            </a:extLst>
          </p:cNvPr>
          <p:cNvSpPr txBox="1"/>
          <p:nvPr/>
        </p:nvSpPr>
        <p:spPr>
          <a:xfrm>
            <a:off x="9067800" y="45212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80">
                <a:solidFill>
                  <a:srgbClr val="22252A"/>
                </a:solidFill>
                <a:latin typeface="Segoe UI" panose="020B0502040204020203" pitchFamily="34" charset="0"/>
              </a:rPr>
              <a:t>•  Các hộp vẫn chồng lấn và có ngoại lai; không thể dự đoán chỉ bằng alcohol.</a:t>
            </a:r>
          </a:p>
        </p:txBody>
      </p:sp>
    </p:spTree>
    <p:extLst>
      <p:ext uri="{BB962C8B-B14F-4D97-AF65-F5344CB8AC3E}">
        <p14:creationId xmlns:p14="http://schemas.microsoft.com/office/powerpoint/2010/main" val="3276702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17E230-BEC6-55B2-691C-B560F527B9B5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22252A"/>
                </a:solidFill>
                <a:latin typeface="Segoe UI" panose="020B0502040204020203" pitchFamily="34" charset="0"/>
              </a:rPr>
              <a:t>Volatile acidity và quality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355EE0-E8DC-AE7A-6A52-352BD1AB05A5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EDA 04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1F4449-D078-3B33-DB0E-3E3F3A912D47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4182B0-36D8-0826-246C-3C1423986CE1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DC687-FEFF-0FD1-EDB6-F8CFDF919FF2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7B9AAE3-A56F-BF44-41E8-197A8E3A706F}"/>
              </a:ext>
            </a:extLst>
          </p:cNvPr>
          <p:cNvSpPr/>
          <p:nvPr/>
        </p:nvSpPr>
        <p:spPr>
          <a:xfrm>
            <a:off x="558800" y="1536700"/>
            <a:ext cx="7848600" cy="4445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0ADF3B-73FD-5001-0FAD-E9FD6030F87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234" y="1587500"/>
            <a:ext cx="7021731" cy="43434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FEB9305-8F55-1FEA-8F16-E1EC076E4C96}"/>
              </a:ext>
            </a:extLst>
          </p:cNvPr>
          <p:cNvSpPr/>
          <p:nvPr/>
        </p:nvSpPr>
        <p:spPr>
          <a:xfrm>
            <a:off x="8763000" y="1587500"/>
            <a:ext cx="2819400" cy="4343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FB7977-F57D-C28E-CAB5-7D7D9730CE15}"/>
              </a:ext>
            </a:extLst>
          </p:cNvPr>
          <p:cNvSpPr txBox="1"/>
          <p:nvPr/>
        </p:nvSpPr>
        <p:spPr>
          <a:xfrm>
            <a:off x="9067800" y="23876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80">
                <a:solidFill>
                  <a:srgbClr val="22252A"/>
                </a:solidFill>
                <a:latin typeface="Segoe UI" panose="020B0502040204020203" pitchFamily="34" charset="0"/>
              </a:rPr>
              <a:t>•  Trung vị volatile acidity giảm dần khi quality tăng từ 3 lên 8.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3E31D3-E2BC-E512-1A1A-C3012507C89F}"/>
              </a:ext>
            </a:extLst>
          </p:cNvPr>
          <p:cNvSpPr txBox="1"/>
          <p:nvPr/>
        </p:nvSpPr>
        <p:spPr>
          <a:xfrm>
            <a:off x="9067800" y="34544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80">
                <a:solidFill>
                  <a:srgbClr val="22252A"/>
                </a:solidFill>
                <a:latin typeface="Segoe UI" panose="020B0502040204020203" pitchFamily="34" charset="0"/>
              </a:rPr>
              <a:t>•  Axit bay hơi cao thường gắn với đánh giá chất lượng thấp hơn.</a:t>
            </a:r>
            <a:endParaRPr lang="en-US" sz="138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08B504-84DE-13B6-ECF7-5C7B0FBEDA33}"/>
              </a:ext>
            </a:extLst>
          </p:cNvPr>
          <p:cNvSpPr txBox="1"/>
          <p:nvPr/>
        </p:nvSpPr>
        <p:spPr>
          <a:xfrm>
            <a:off x="9067800" y="4521200"/>
            <a:ext cx="2209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80">
                <a:solidFill>
                  <a:srgbClr val="22252A"/>
                </a:solidFill>
                <a:latin typeface="Segoe UI" panose="020B0502040204020203" pitchFamily="34" charset="0"/>
              </a:rPr>
              <a:t>•  Quan hệ nghịch khá rõ nhưng vẫn có chồng lấn và ngoại lai giữa các nhóm.</a:t>
            </a:r>
            <a:endParaRPr lang="en-US" sz="138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4085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ED76A1-BB37-C438-89FC-7F87482529B1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2800" b="1">
                <a:solidFill>
                  <a:srgbClr val="22252A"/>
                </a:solidFill>
                <a:latin typeface="Segoe UI" panose="020B0502040204020203" pitchFamily="34" charset="0"/>
              </a:rPr>
              <a:t>Ma trận tương quan</a:t>
            </a:r>
            <a:endParaRPr lang="en-US" sz="2800" b="1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5DFC2B-D90D-A520-1D32-744EA2AF00AA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EDA 05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5C780E-B2A6-D834-0574-D1D58F42EA14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4F1260-BC9C-6A4F-363E-9EA4486E8416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B26E06-AA19-CA2A-B9CC-06EE42D29405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CAD674E-FA4D-43FA-FA0C-A7B561D1B1CE}"/>
              </a:ext>
            </a:extLst>
          </p:cNvPr>
          <p:cNvSpPr/>
          <p:nvPr/>
        </p:nvSpPr>
        <p:spPr>
          <a:xfrm>
            <a:off x="558800" y="1460500"/>
            <a:ext cx="7975600" cy="4673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802E3A8-3441-2B4D-CE60-0D384EA14E4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0341" y="1511300"/>
            <a:ext cx="6432518" cy="45720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2D59B9F-2B6A-1DCA-9F21-1DA7C62AF53F}"/>
              </a:ext>
            </a:extLst>
          </p:cNvPr>
          <p:cNvSpPr/>
          <p:nvPr/>
        </p:nvSpPr>
        <p:spPr>
          <a:xfrm>
            <a:off x="8813800" y="1587500"/>
            <a:ext cx="2768600" cy="4343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39B545-0DC2-F3D0-1E52-32FD1049734F}"/>
              </a:ext>
            </a:extLst>
          </p:cNvPr>
          <p:cNvSpPr txBox="1"/>
          <p:nvPr/>
        </p:nvSpPr>
        <p:spPr>
          <a:xfrm>
            <a:off x="9118600" y="2387600"/>
            <a:ext cx="2133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50">
                <a:solidFill>
                  <a:srgbClr val="22252A"/>
                </a:solidFill>
                <a:latin typeface="Segoe UI" panose="020B0502040204020203" pitchFamily="34" charset="0"/>
              </a:rPr>
              <a:t>•  Màu và hệ số r cho biết chiều, mức độ liên hệ tuyến tính giữa hai biến.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4B0507-C6BA-E372-AE47-B3B3D3403302}"/>
              </a:ext>
            </a:extLst>
          </p:cNvPr>
          <p:cNvSpPr txBox="1"/>
          <p:nvPr/>
        </p:nvSpPr>
        <p:spPr>
          <a:xfrm>
            <a:off x="9118600" y="3454400"/>
            <a:ext cx="2133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50">
                <a:solidFill>
                  <a:srgbClr val="22252A"/>
                </a:solidFill>
                <a:latin typeface="Segoe UI" panose="020B0502040204020203" pitchFamily="34" charset="0"/>
              </a:rPr>
              <a:t>•  Quality tương quan dương với alcohol (0,48) và âm với volatile acidity (−0,39).</a:t>
            </a:r>
            <a:endParaRPr lang="en-US" sz="13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6EFD26-BA39-DDD0-5683-5FBE7D7E0799}"/>
              </a:ext>
            </a:extLst>
          </p:cNvPr>
          <p:cNvSpPr txBox="1"/>
          <p:nvPr/>
        </p:nvSpPr>
        <p:spPr>
          <a:xfrm>
            <a:off x="9118600" y="4521200"/>
            <a:ext cx="2133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50">
                <a:solidFill>
                  <a:srgbClr val="22252A"/>
                </a:solidFill>
                <a:latin typeface="Segoe UI" panose="020B0502040204020203" pitchFamily="34" charset="0"/>
              </a:rPr>
              <a:t>•  Các đặc trưng cũng liên hệ lẫn nhau; tương quan không đồng nghĩa quan hệ nhân quả.</a:t>
            </a:r>
            <a:endParaRPr lang="en-US" sz="13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1308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098553-99A6-F3A7-1B74-1BB77CF21795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22252A"/>
                </a:solidFill>
                <a:latin typeface="Segoe UI" panose="020B0502040204020203" pitchFamily="34" charset="0"/>
              </a:rPr>
              <a:t>Tiền xử lý và ngăn ngừa data leakage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678D86-367D-503A-F866-C6DA4FBDA984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DATA PREPROCESSING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A0ACF0-EC8B-71E2-4FB9-BC3B08A89CD5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10B82F-4697-1359-DBA0-01AE0FA40A38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E9935B-0CE7-BF05-3C3B-6693827AC15E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7BE4ABA-AA70-1217-EE00-449D69230D35}"/>
              </a:ext>
            </a:extLst>
          </p:cNvPr>
          <p:cNvSpPr/>
          <p:nvPr/>
        </p:nvSpPr>
        <p:spPr>
          <a:xfrm>
            <a:off x="609600" y="1676400"/>
            <a:ext cx="3352800" cy="121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30D965-16FF-CC4B-1DED-114EED1962EB}"/>
              </a:ext>
            </a:extLst>
          </p:cNvPr>
          <p:cNvSpPr txBox="1"/>
          <p:nvPr/>
        </p:nvSpPr>
        <p:spPr>
          <a:xfrm>
            <a:off x="812800" y="18542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197877-362B-1203-5466-EAE92142EBF8}"/>
              </a:ext>
            </a:extLst>
          </p:cNvPr>
          <p:cNvSpPr txBox="1"/>
          <p:nvPr/>
        </p:nvSpPr>
        <p:spPr>
          <a:xfrm>
            <a:off x="1270000" y="1828800"/>
            <a:ext cx="2387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22252A"/>
                </a:solidFill>
                <a:latin typeface="Segoe UI" panose="020B0502040204020203" pitchFamily="34" charset="0"/>
              </a:rPr>
              <a:t>Làm sạch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B74E01-7C00-9EA6-F77F-5E24DDBCF430}"/>
              </a:ext>
            </a:extLst>
          </p:cNvPr>
          <p:cNvSpPr txBox="1"/>
          <p:nvPr/>
        </p:nvSpPr>
        <p:spPr>
          <a:xfrm>
            <a:off x="812800" y="22479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30">
                <a:solidFill>
                  <a:srgbClr val="716B66"/>
                </a:solidFill>
                <a:latin typeface="Segoe UI" panose="020B0502040204020203" pitchFamily="34" charset="0"/>
              </a:rPr>
              <a:t>Kiểm tra kiểu dữ liệu và missing: 0 giá trị thiếu.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544172B-BD15-1D0F-3090-1D264E765D7E}"/>
              </a:ext>
            </a:extLst>
          </p:cNvPr>
          <p:cNvSpPr/>
          <p:nvPr/>
        </p:nvSpPr>
        <p:spPr>
          <a:xfrm>
            <a:off x="4267200" y="1676400"/>
            <a:ext cx="3352800" cy="121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5234C0-CB94-44EA-F253-873BDBA836D1}"/>
              </a:ext>
            </a:extLst>
          </p:cNvPr>
          <p:cNvSpPr txBox="1"/>
          <p:nvPr/>
        </p:nvSpPr>
        <p:spPr>
          <a:xfrm>
            <a:off x="4470400" y="18542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BE23C0-08FA-D768-102B-AC2E894DFC59}"/>
              </a:ext>
            </a:extLst>
          </p:cNvPr>
          <p:cNvSpPr txBox="1"/>
          <p:nvPr/>
        </p:nvSpPr>
        <p:spPr>
          <a:xfrm>
            <a:off x="4927600" y="1828800"/>
            <a:ext cx="2387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22252A"/>
                </a:solidFill>
                <a:latin typeface="Segoe UI" panose="020B0502040204020203" pitchFamily="34" charset="0"/>
              </a:rPr>
              <a:t>Loại trùng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ABFB4F-767B-B7A5-6465-EC9E8047696D}"/>
              </a:ext>
            </a:extLst>
          </p:cNvPr>
          <p:cNvSpPr txBox="1"/>
          <p:nvPr/>
        </p:nvSpPr>
        <p:spPr>
          <a:xfrm>
            <a:off x="4470400" y="22479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30">
                <a:solidFill>
                  <a:srgbClr val="716B66"/>
                </a:solidFill>
                <a:latin typeface="Segoe UI" panose="020B0502040204020203" pitchFamily="34" charset="0"/>
              </a:rPr>
              <a:t>Xóa 240 dòng trùng; giữ ngoại lai hợp lệ.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03D4039-7740-967C-4009-BE7449DBAB5C}"/>
              </a:ext>
            </a:extLst>
          </p:cNvPr>
          <p:cNvSpPr/>
          <p:nvPr/>
        </p:nvSpPr>
        <p:spPr>
          <a:xfrm>
            <a:off x="7924800" y="1676400"/>
            <a:ext cx="3352800" cy="121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C78CC5-6987-2A84-7F91-0922CD7F2768}"/>
              </a:ext>
            </a:extLst>
          </p:cNvPr>
          <p:cNvSpPr txBox="1"/>
          <p:nvPr/>
        </p:nvSpPr>
        <p:spPr>
          <a:xfrm>
            <a:off x="8128000" y="18542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53932E-0C4D-96B7-889A-6D58FB32ECC2}"/>
              </a:ext>
            </a:extLst>
          </p:cNvPr>
          <p:cNvSpPr txBox="1"/>
          <p:nvPr/>
        </p:nvSpPr>
        <p:spPr>
          <a:xfrm>
            <a:off x="8585200" y="1828800"/>
            <a:ext cx="2387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22252A"/>
                </a:solidFill>
                <a:latin typeface="Segoe UI" panose="020B0502040204020203" pitchFamily="34" charset="0"/>
              </a:rPr>
              <a:t>Tách biến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3C3997-A0C8-88C3-1043-C766A27E5110}"/>
              </a:ext>
            </a:extLst>
          </p:cNvPr>
          <p:cNvSpPr txBox="1"/>
          <p:nvPr/>
        </p:nvSpPr>
        <p:spPr>
          <a:xfrm>
            <a:off x="8128000" y="22479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1230">
                <a:solidFill>
                  <a:srgbClr val="716B66"/>
                </a:solidFill>
                <a:latin typeface="Segoe UI" panose="020B0502040204020203" pitchFamily="34" charset="0"/>
              </a:rPr>
              <a:t>X gồm 11 features; y là quality.</a:t>
            </a:r>
            <a:endParaRPr lang="en-US" sz="123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5F2AC61-F8E7-62E7-0102-BE4F7E431466}"/>
              </a:ext>
            </a:extLst>
          </p:cNvPr>
          <p:cNvSpPr/>
          <p:nvPr/>
        </p:nvSpPr>
        <p:spPr>
          <a:xfrm>
            <a:off x="609600" y="3149600"/>
            <a:ext cx="3352800" cy="121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470F68-019E-1E7F-1FD6-C8942C17A3CD}"/>
              </a:ext>
            </a:extLst>
          </p:cNvPr>
          <p:cNvSpPr txBox="1"/>
          <p:nvPr/>
        </p:nvSpPr>
        <p:spPr>
          <a:xfrm>
            <a:off x="812800" y="3327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D28A23-261F-12FA-69EB-B173D9F70EC7}"/>
              </a:ext>
            </a:extLst>
          </p:cNvPr>
          <p:cNvSpPr txBox="1"/>
          <p:nvPr/>
        </p:nvSpPr>
        <p:spPr>
          <a:xfrm>
            <a:off x="1270000" y="3302000"/>
            <a:ext cx="2387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22252A"/>
                </a:solidFill>
                <a:latin typeface="Segoe UI" panose="020B0502040204020203" pitchFamily="34" charset="0"/>
              </a:rPr>
              <a:t>Chia dữ liệu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8ABF32-8056-BE9F-703F-0846EC35A628}"/>
              </a:ext>
            </a:extLst>
          </p:cNvPr>
          <p:cNvSpPr txBox="1"/>
          <p:nvPr/>
        </p:nvSpPr>
        <p:spPr>
          <a:xfrm>
            <a:off x="812800" y="37211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30">
                <a:solidFill>
                  <a:srgbClr val="716B66"/>
                </a:solidFill>
                <a:latin typeface="Segoe UI" panose="020B0502040204020203" pitchFamily="34" charset="0"/>
              </a:rPr>
              <a:t>80/20: train 1.087, test 272; seed 42.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F98DAF3-CFFF-5634-9B9A-1063A420F42A}"/>
              </a:ext>
            </a:extLst>
          </p:cNvPr>
          <p:cNvSpPr/>
          <p:nvPr/>
        </p:nvSpPr>
        <p:spPr>
          <a:xfrm>
            <a:off x="4267200" y="3149600"/>
            <a:ext cx="3352800" cy="12192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950187-2DE5-1348-59BF-746598122645}"/>
              </a:ext>
            </a:extLst>
          </p:cNvPr>
          <p:cNvSpPr txBox="1"/>
          <p:nvPr/>
        </p:nvSpPr>
        <p:spPr>
          <a:xfrm>
            <a:off x="4470400" y="3327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05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0649DD-E876-3791-EB1C-F93E7571F15F}"/>
              </a:ext>
            </a:extLst>
          </p:cNvPr>
          <p:cNvSpPr txBox="1"/>
          <p:nvPr/>
        </p:nvSpPr>
        <p:spPr>
          <a:xfrm>
            <a:off x="4927600" y="3302000"/>
            <a:ext cx="2387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22252A"/>
                </a:solidFill>
                <a:latin typeface="Segoe UI" panose="020B0502040204020203" pitchFamily="34" charset="0"/>
              </a:rPr>
              <a:t>Fit pipeline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4F7B3D-3D3E-C59A-5370-AFB16D4D825E}"/>
              </a:ext>
            </a:extLst>
          </p:cNvPr>
          <p:cNvSpPr txBox="1"/>
          <p:nvPr/>
        </p:nvSpPr>
        <p:spPr>
          <a:xfrm>
            <a:off x="4470400" y="37211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1230">
                <a:solidFill>
                  <a:srgbClr val="716B66"/>
                </a:solidFill>
                <a:latin typeface="Segoe UI" panose="020B0502040204020203" pitchFamily="34" charset="0"/>
              </a:rPr>
              <a:t>Median imputer + scaler chỉ fit trên train.</a:t>
            </a:r>
            <a:endParaRPr lang="en-US" sz="123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CD22758-E83D-2E0B-F992-213D852A1738}"/>
              </a:ext>
            </a:extLst>
          </p:cNvPr>
          <p:cNvSpPr/>
          <p:nvPr/>
        </p:nvSpPr>
        <p:spPr>
          <a:xfrm>
            <a:off x="7924800" y="3149600"/>
            <a:ext cx="3352800" cy="121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974DF2-F56B-D0A1-D18F-3FDF8547F3EB}"/>
              </a:ext>
            </a:extLst>
          </p:cNvPr>
          <p:cNvSpPr txBox="1"/>
          <p:nvPr/>
        </p:nvSpPr>
        <p:spPr>
          <a:xfrm>
            <a:off x="8128000" y="3327400"/>
            <a:ext cx="38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06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28610AD-7B42-EFED-722F-5C63E4AF516D}"/>
              </a:ext>
            </a:extLst>
          </p:cNvPr>
          <p:cNvSpPr txBox="1"/>
          <p:nvPr/>
        </p:nvSpPr>
        <p:spPr>
          <a:xfrm>
            <a:off x="8585200" y="3302000"/>
            <a:ext cx="2387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22252A"/>
                </a:solidFill>
                <a:latin typeface="Segoe UI" panose="020B0502040204020203" pitchFamily="34" charset="0"/>
              </a:rPr>
              <a:t>Đánh giá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F072722-1536-A7BA-C194-24CAC1892F44}"/>
              </a:ext>
            </a:extLst>
          </p:cNvPr>
          <p:cNvSpPr txBox="1"/>
          <p:nvPr/>
        </p:nvSpPr>
        <p:spPr>
          <a:xfrm>
            <a:off x="8128000" y="37211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30">
                <a:solidFill>
                  <a:srgbClr val="716B66"/>
                </a:solidFill>
                <a:latin typeface="Segoe UI" panose="020B0502040204020203" pitchFamily="34" charset="0"/>
              </a:rPr>
              <a:t>CV/tuning trên train; test chỉ dùng một lần cuối.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7CCFC6F-ECBB-933D-46E1-FAA3B1814FF9}"/>
              </a:ext>
            </a:extLst>
          </p:cNvPr>
          <p:cNvSpPr/>
          <p:nvPr/>
        </p:nvSpPr>
        <p:spPr>
          <a:xfrm>
            <a:off x="609600" y="4826000"/>
            <a:ext cx="10668000" cy="9144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134305-2A7F-EC72-629E-6B10C490CB3F}"/>
              </a:ext>
            </a:extLst>
          </p:cNvPr>
          <p:cNvSpPr txBox="1"/>
          <p:nvPr/>
        </p:nvSpPr>
        <p:spPr>
          <a:xfrm>
            <a:off x="889000" y="5029200"/>
            <a:ext cx="254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CHỐNG DATA LEAKAGE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C9F64C-569F-A2CC-B289-C967BE071A62}"/>
              </a:ext>
            </a:extLst>
          </p:cNvPr>
          <p:cNvSpPr txBox="1"/>
          <p:nvPr/>
        </p:nvSpPr>
        <p:spPr>
          <a:xfrm>
            <a:off x="889000" y="5334000"/>
            <a:ext cx="1003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50" b="1">
                <a:solidFill>
                  <a:srgbClr val="22252A"/>
                </a:solidFill>
                <a:latin typeface="Segoe UI" panose="020B0502040204020203" pitchFamily="34" charset="0"/>
              </a:rPr>
              <a:t>Chia train/test trước khi học tham số tiền xử lý. Test không tham gia fit scaler, imputer hay lựa chọn siêu tham số.</a:t>
            </a:r>
            <a:endParaRPr lang="en-US" sz="1450" b="1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DAB166-DA7F-51A5-D202-02D07F16EFFE}"/>
              </a:ext>
            </a:extLst>
          </p:cNvPr>
          <p:cNvSpPr txBox="1"/>
          <p:nvPr/>
        </p:nvSpPr>
        <p:spPr>
          <a:xfrm>
            <a:off x="609600" y="5943600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50">
                <a:solidFill>
                  <a:srgbClr val="716B66"/>
                </a:solidFill>
                <a:latin typeface="Segoe UI" panose="020B0502040204020203" pitchFamily="34" charset="0"/>
              </a:rPr>
              <a:t>Nhờ pipeline, cùng một quy trình biến đổi được áp dụng nhất quán khi huấn luyện và dự đoán thực tế.</a:t>
            </a:r>
            <a:endParaRPr lang="en-US" sz="125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38279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506204-D829-4600-71D2-8A73BDC96F07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22252A"/>
                </a:solidFill>
                <a:latin typeface="Segoe UI" panose="020B0502040204020203" pitchFamily="34" charset="0"/>
              </a:rPr>
              <a:t>Hai mô hình tuyến tính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A46AFA-494E-C16E-3A12-B40A575CB18D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MÔ HÌNH 01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5ED9DB-558E-A3BB-403D-6541EEAD0077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9B89C-62DA-F10B-0204-7CAB05FCB63C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10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BC48FF-129A-4218-07F6-41ACCC6BC698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1AC0DCA-3A6C-F104-2B9F-1DD6133F0E1C}"/>
              </a:ext>
            </a:extLst>
          </p:cNvPr>
          <p:cNvSpPr/>
          <p:nvPr/>
        </p:nvSpPr>
        <p:spPr>
          <a:xfrm>
            <a:off x="609600" y="1612900"/>
            <a:ext cx="5143500" cy="4546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FF6F23-2DEE-4520-4149-D54DF1F03B74}"/>
              </a:ext>
            </a:extLst>
          </p:cNvPr>
          <p:cNvSpPr txBox="1"/>
          <p:nvPr/>
        </p:nvSpPr>
        <p:spPr>
          <a:xfrm>
            <a:off x="889000" y="18923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LINEAR REGRESSION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258156-9B6E-D2A6-B67C-B2588C04C953}"/>
              </a:ext>
            </a:extLst>
          </p:cNvPr>
          <p:cNvSpPr txBox="1"/>
          <p:nvPr/>
        </p:nvSpPr>
        <p:spPr>
          <a:xfrm>
            <a:off x="889000" y="22606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22252A"/>
                </a:solidFill>
                <a:latin typeface="Segoe UI" panose="020B0502040204020203" pitchFamily="34" charset="0"/>
              </a:rPr>
              <a:t>Khớp một quan hệ tuyến tính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53C3264-0769-8C65-5484-2EB39E0EA4AD}"/>
              </a:ext>
            </a:extLst>
          </p:cNvPr>
          <p:cNvSpPr/>
          <p:nvPr/>
        </p:nvSpPr>
        <p:spPr>
          <a:xfrm>
            <a:off x="889000" y="2768600"/>
            <a:ext cx="4572000" cy="12446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F1BF986-FBAE-E5F2-9044-05DBBAD16286}"/>
              </a:ext>
            </a:extLst>
          </p:cNvPr>
          <p:cNvCxnSpPr/>
          <p:nvPr/>
        </p:nvCxnSpPr>
        <p:spPr>
          <a:xfrm>
            <a:off x="1244600" y="3784600"/>
            <a:ext cx="3987800" cy="0"/>
          </a:xfrm>
          <a:prstGeom prst="straightConnector1">
            <a:avLst/>
          </a:prstGeom>
          <a:ln w="12700">
            <a:solidFill>
              <a:srgbClr val="716B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F0E9337-07EF-ED3E-FAD7-6B05A5E5917E}"/>
              </a:ext>
            </a:extLst>
          </p:cNvPr>
          <p:cNvCxnSpPr/>
          <p:nvPr/>
        </p:nvCxnSpPr>
        <p:spPr>
          <a:xfrm flipV="1">
            <a:off x="1244600" y="2959100"/>
            <a:ext cx="0" cy="825500"/>
          </a:xfrm>
          <a:prstGeom prst="straightConnector1">
            <a:avLst/>
          </a:prstGeom>
          <a:ln w="12700">
            <a:solidFill>
              <a:srgbClr val="716B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BF71B362-CE1E-DFDC-3998-BC3F94A229E3}"/>
              </a:ext>
            </a:extLst>
          </p:cNvPr>
          <p:cNvSpPr/>
          <p:nvPr/>
        </p:nvSpPr>
        <p:spPr>
          <a:xfrm>
            <a:off x="1498600" y="3556000"/>
            <a:ext cx="88900" cy="88900"/>
          </a:xfrm>
          <a:prstGeom prst="ellipse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D61AF36-B4FC-F6AB-EE4C-CCA1204D149F}"/>
              </a:ext>
            </a:extLst>
          </p:cNvPr>
          <p:cNvSpPr/>
          <p:nvPr/>
        </p:nvSpPr>
        <p:spPr>
          <a:xfrm>
            <a:off x="1879600" y="3441700"/>
            <a:ext cx="88900" cy="88900"/>
          </a:xfrm>
          <a:prstGeom prst="ellipse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09CCECB-81A4-50A4-8AF0-0D92347F1987}"/>
              </a:ext>
            </a:extLst>
          </p:cNvPr>
          <p:cNvSpPr/>
          <p:nvPr/>
        </p:nvSpPr>
        <p:spPr>
          <a:xfrm>
            <a:off x="2286000" y="3378200"/>
            <a:ext cx="88900" cy="88900"/>
          </a:xfrm>
          <a:prstGeom prst="ellipse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C783923-1FC8-180C-8C97-CCC727ACE72B}"/>
              </a:ext>
            </a:extLst>
          </p:cNvPr>
          <p:cNvSpPr/>
          <p:nvPr/>
        </p:nvSpPr>
        <p:spPr>
          <a:xfrm>
            <a:off x="2705100" y="3200400"/>
            <a:ext cx="88900" cy="88900"/>
          </a:xfrm>
          <a:prstGeom prst="ellipse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DCA4728-E040-753A-316A-162E4865CFA8}"/>
              </a:ext>
            </a:extLst>
          </p:cNvPr>
          <p:cNvSpPr/>
          <p:nvPr/>
        </p:nvSpPr>
        <p:spPr>
          <a:xfrm>
            <a:off x="3111500" y="3162300"/>
            <a:ext cx="88900" cy="88900"/>
          </a:xfrm>
          <a:prstGeom prst="ellipse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10E0361-F835-ABF9-BC7F-FB6E2731BCF4}"/>
              </a:ext>
            </a:extLst>
          </p:cNvPr>
          <p:cNvSpPr/>
          <p:nvPr/>
        </p:nvSpPr>
        <p:spPr>
          <a:xfrm>
            <a:off x="3530600" y="3022600"/>
            <a:ext cx="88900" cy="88900"/>
          </a:xfrm>
          <a:prstGeom prst="ellipse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776ABFE-431B-32CB-B6C1-C3B21C4AD221}"/>
              </a:ext>
            </a:extLst>
          </p:cNvPr>
          <p:cNvCxnSpPr/>
          <p:nvPr/>
        </p:nvCxnSpPr>
        <p:spPr>
          <a:xfrm flipV="1">
            <a:off x="1422400" y="2997200"/>
            <a:ext cx="3733800" cy="647700"/>
          </a:xfrm>
          <a:prstGeom prst="straightConnector1">
            <a:avLst/>
          </a:prstGeom>
          <a:ln w="2921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EF53F2E-A776-1ECE-DB76-D0B17E197590}"/>
              </a:ext>
            </a:extLst>
          </p:cNvPr>
          <p:cNvSpPr txBox="1"/>
          <p:nvPr/>
        </p:nvSpPr>
        <p:spPr>
          <a:xfrm>
            <a:off x="2311400" y="3810000"/>
            <a:ext cx="1803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vi-VN" sz="850">
                <a:solidFill>
                  <a:srgbClr val="716B66"/>
                </a:solidFill>
                <a:latin typeface="Segoe UI" panose="020B0502040204020203" pitchFamily="34" charset="0"/>
              </a:rPr>
              <a:t>đường hồi quy phù hợp dữ liệu</a:t>
            </a:r>
            <a:endParaRPr lang="en-US" sz="85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61EF14-8DA0-D03B-E08C-4AC68E8BCA0B}"/>
              </a:ext>
            </a:extLst>
          </p:cNvPr>
          <p:cNvSpPr txBox="1"/>
          <p:nvPr/>
        </p:nvSpPr>
        <p:spPr>
          <a:xfrm>
            <a:off x="889000" y="42291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716B66"/>
                </a:solidFill>
                <a:latin typeface="Segoe UI" panose="020B0502040204020203" pitchFamily="34" charset="0"/>
              </a:rPr>
              <a:t>NGUYÊN LÝ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4F2022-8BC7-36DE-0CEC-5E77FD9DF9FE}"/>
              </a:ext>
            </a:extLst>
          </p:cNvPr>
          <p:cNvSpPr txBox="1"/>
          <p:nvPr/>
        </p:nvSpPr>
        <p:spPr>
          <a:xfrm>
            <a:off x="889000" y="44958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20">
                <a:solidFill>
                  <a:srgbClr val="22252A"/>
                </a:solidFill>
                <a:latin typeface="Segoe UI" panose="020B0502040204020203" pitchFamily="34" charset="0"/>
              </a:rPr>
              <a:t>Tìm bộ hệ số làm tổng sai số bình phương giữa dự đoán và thực tế nhỏ nhất.</a:t>
            </a:r>
            <a:endParaRPr lang="en-US" sz="142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247463-9826-EC33-251B-0E718F2F7481}"/>
              </a:ext>
            </a:extLst>
          </p:cNvPr>
          <p:cNvSpPr txBox="1"/>
          <p:nvPr/>
        </p:nvSpPr>
        <p:spPr>
          <a:xfrm>
            <a:off x="889000" y="533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8C3B47"/>
                </a:solidFill>
                <a:latin typeface="Segoe UI" panose="020B0502040204020203" pitchFamily="34" charset="0"/>
              </a:rPr>
              <a:t>Dễ giải thích và chạy nhanh; hạn chế khi quan hệ phi tuyến.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21180B0D-CA70-51AB-10B0-A755ACE2C9E3}"/>
              </a:ext>
            </a:extLst>
          </p:cNvPr>
          <p:cNvSpPr/>
          <p:nvPr/>
        </p:nvSpPr>
        <p:spPr>
          <a:xfrm>
            <a:off x="6438900" y="1612900"/>
            <a:ext cx="5143500" cy="4546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4E76FC-4A17-83D6-1AA4-45F122F73126}"/>
              </a:ext>
            </a:extLst>
          </p:cNvPr>
          <p:cNvSpPr txBox="1"/>
          <p:nvPr/>
        </p:nvSpPr>
        <p:spPr>
          <a:xfrm>
            <a:off x="6718300" y="18923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RIDGE REGRESSION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845A62-738F-0340-315C-3409426AA788}"/>
              </a:ext>
            </a:extLst>
          </p:cNvPr>
          <p:cNvSpPr txBox="1"/>
          <p:nvPr/>
        </p:nvSpPr>
        <p:spPr>
          <a:xfrm>
            <a:off x="6718300" y="22606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22252A"/>
                </a:solidFill>
                <a:latin typeface="Segoe UI" panose="020B0502040204020203" pitchFamily="34" charset="0"/>
              </a:rPr>
              <a:t>Tuyến tính có điều chuẩn L2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5BE7418E-2560-D53B-20CD-E4829986C7D4}"/>
              </a:ext>
            </a:extLst>
          </p:cNvPr>
          <p:cNvSpPr/>
          <p:nvPr/>
        </p:nvSpPr>
        <p:spPr>
          <a:xfrm>
            <a:off x="6718300" y="2768600"/>
            <a:ext cx="4572000" cy="12446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6F5289-E57E-8A97-6685-E2B2C7F8BD4C}"/>
              </a:ext>
            </a:extLst>
          </p:cNvPr>
          <p:cNvSpPr txBox="1"/>
          <p:nvPr/>
        </p:nvSpPr>
        <p:spPr>
          <a:xfrm>
            <a:off x="6946900" y="2895600"/>
            <a:ext cx="1168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Hệ số ban đầu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9CF9A9-8023-3534-DCE0-64ED4196798C}"/>
              </a:ext>
            </a:extLst>
          </p:cNvPr>
          <p:cNvSpPr txBox="1"/>
          <p:nvPr/>
        </p:nvSpPr>
        <p:spPr>
          <a:xfrm>
            <a:off x="8674100" y="2895600"/>
            <a:ext cx="1168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8C3B47"/>
                </a:solidFill>
                <a:latin typeface="Segoe UI" panose="020B0502040204020203" pitchFamily="34" charset="0"/>
              </a:rPr>
              <a:t>Sau phạt L2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2EE6D60-6482-8DA9-C9C0-4A0CFE96608C}"/>
              </a:ext>
            </a:extLst>
          </p:cNvPr>
          <p:cNvSpPr/>
          <p:nvPr/>
        </p:nvSpPr>
        <p:spPr>
          <a:xfrm>
            <a:off x="6972300" y="3149600"/>
            <a:ext cx="177800" cy="660400"/>
          </a:xfrm>
          <a:prstGeom prst="rect">
            <a:avLst/>
          </a:prstGeom>
          <a:solidFill>
            <a:srgbClr val="716B66">
              <a:alpha val="7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641249-B6AF-C0B6-4FB2-58D2CB9AE4F0}"/>
              </a:ext>
            </a:extLst>
          </p:cNvPr>
          <p:cNvSpPr/>
          <p:nvPr/>
        </p:nvSpPr>
        <p:spPr>
          <a:xfrm>
            <a:off x="8686800" y="3416300"/>
            <a:ext cx="177800" cy="3937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C8326BC-A276-2ACF-8AAA-514E86AA1AA6}"/>
              </a:ext>
            </a:extLst>
          </p:cNvPr>
          <p:cNvSpPr/>
          <p:nvPr/>
        </p:nvSpPr>
        <p:spPr>
          <a:xfrm>
            <a:off x="7264400" y="3327400"/>
            <a:ext cx="177800" cy="482600"/>
          </a:xfrm>
          <a:prstGeom prst="rect">
            <a:avLst/>
          </a:prstGeom>
          <a:solidFill>
            <a:srgbClr val="716B66">
              <a:alpha val="7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67171A3-9FCA-6263-7638-C79EA51ED84A}"/>
              </a:ext>
            </a:extLst>
          </p:cNvPr>
          <p:cNvSpPr/>
          <p:nvPr/>
        </p:nvSpPr>
        <p:spPr>
          <a:xfrm>
            <a:off x="8978900" y="3505200"/>
            <a:ext cx="177800" cy="304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406B779-152B-67C1-CEBB-9ACB9B007B81}"/>
              </a:ext>
            </a:extLst>
          </p:cNvPr>
          <p:cNvSpPr/>
          <p:nvPr/>
        </p:nvSpPr>
        <p:spPr>
          <a:xfrm>
            <a:off x="7556500" y="3009900"/>
            <a:ext cx="177800" cy="800100"/>
          </a:xfrm>
          <a:prstGeom prst="rect">
            <a:avLst/>
          </a:prstGeom>
          <a:solidFill>
            <a:srgbClr val="716B66">
              <a:alpha val="7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9FFE334-F4F1-C34C-7D2C-60D841561BCE}"/>
              </a:ext>
            </a:extLst>
          </p:cNvPr>
          <p:cNvSpPr/>
          <p:nvPr/>
        </p:nvSpPr>
        <p:spPr>
          <a:xfrm>
            <a:off x="9271000" y="3352800"/>
            <a:ext cx="177800" cy="4572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AA6208E-ED9F-CEE9-ABC8-A4194EC9DE64}"/>
              </a:ext>
            </a:extLst>
          </p:cNvPr>
          <p:cNvSpPr/>
          <p:nvPr/>
        </p:nvSpPr>
        <p:spPr>
          <a:xfrm>
            <a:off x="7848600" y="3441700"/>
            <a:ext cx="177800" cy="368300"/>
          </a:xfrm>
          <a:prstGeom prst="rect">
            <a:avLst/>
          </a:prstGeom>
          <a:solidFill>
            <a:srgbClr val="716B66">
              <a:alpha val="7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F8B0330-E1B6-E3D6-19FA-990F21E124CF}"/>
              </a:ext>
            </a:extLst>
          </p:cNvPr>
          <p:cNvSpPr/>
          <p:nvPr/>
        </p:nvSpPr>
        <p:spPr>
          <a:xfrm>
            <a:off x="9563100" y="3568700"/>
            <a:ext cx="177800" cy="2413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0FE7A43-637C-1335-EC10-C8A1749B8302}"/>
              </a:ext>
            </a:extLst>
          </p:cNvPr>
          <p:cNvCxnSpPr/>
          <p:nvPr/>
        </p:nvCxnSpPr>
        <p:spPr>
          <a:xfrm>
            <a:off x="8267700" y="3403600"/>
            <a:ext cx="292100" cy="0"/>
          </a:xfrm>
          <a:prstGeom prst="straightConnector1">
            <a:avLst/>
          </a:prstGeom>
          <a:ln w="22860">
            <a:solidFill>
              <a:srgbClr val="8C3B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F1CFA92-E70E-4A5D-C6D7-E7B7A7EA6823}"/>
              </a:ext>
            </a:extLst>
          </p:cNvPr>
          <p:cNvSpPr txBox="1"/>
          <p:nvPr/>
        </p:nvSpPr>
        <p:spPr>
          <a:xfrm>
            <a:off x="8851900" y="3822700"/>
            <a:ext cx="1041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50">
                <a:solidFill>
                  <a:srgbClr val="716B66"/>
                </a:solidFill>
                <a:latin typeface="Segoe UI" panose="020B0502040204020203" pitchFamily="34" charset="0"/>
              </a:rPr>
              <a:t>co nhỏ hệ số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415F4D7-7665-E199-54F9-8EDD7057533B}"/>
              </a:ext>
            </a:extLst>
          </p:cNvPr>
          <p:cNvSpPr txBox="1"/>
          <p:nvPr/>
        </p:nvSpPr>
        <p:spPr>
          <a:xfrm>
            <a:off x="6718300" y="42291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716B66"/>
                </a:solidFill>
                <a:latin typeface="Segoe UI" panose="020B0502040204020203" pitchFamily="34" charset="0"/>
              </a:rPr>
              <a:t>NGUYÊN LÝ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79CCB0-FF9E-BA33-C81A-4FFD806E7B10}"/>
              </a:ext>
            </a:extLst>
          </p:cNvPr>
          <p:cNvSpPr txBox="1"/>
          <p:nvPr/>
        </p:nvSpPr>
        <p:spPr>
          <a:xfrm>
            <a:off x="6718300" y="44958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20">
                <a:solidFill>
                  <a:srgbClr val="22252A"/>
                </a:solidFill>
                <a:latin typeface="Segoe UI" panose="020B0502040204020203" pitchFamily="34" charset="0"/>
              </a:rPr>
              <a:t>Thêm phạt L2 để co nhỏ hệ số, giảm việc mô hình phụ thuộc quá mạnh vào một đặc trưng.</a:t>
            </a:r>
            <a:endParaRPr lang="en-US" sz="142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44F81FF-80F7-7F01-BEFA-36523B893038}"/>
              </a:ext>
            </a:extLst>
          </p:cNvPr>
          <p:cNvSpPr txBox="1"/>
          <p:nvPr/>
        </p:nvSpPr>
        <p:spPr>
          <a:xfrm>
            <a:off x="6718300" y="533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00" b="1">
                <a:solidFill>
                  <a:srgbClr val="8C3B47"/>
                </a:solidFill>
                <a:latin typeface="Segoe UI" panose="020B0502040204020203" pitchFamily="34" charset="0"/>
              </a:rPr>
              <a:t>Ổn định hơn khi các biến tương quan; alpha quyết định mức phạt.</a:t>
            </a:r>
            <a:endParaRPr lang="en-US" sz="1300" b="1">
              <a:solidFill>
                <a:srgbClr val="8C3B47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88559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E1A9CB-42DA-5A73-7754-011180C7D824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22252A"/>
                </a:solidFill>
                <a:latin typeface="Segoe UI" panose="020B0502040204020203" pitchFamily="34" charset="0"/>
              </a:rPr>
              <a:t>Hai mô hình tổ hợp cây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B2042A-FE97-6573-B984-FCC5420CF857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MÔ HÌNH 02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8D5C9B-1E3F-F4CD-4EBF-EE5D77A08CAD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801DD4-4B5C-4467-F327-7B5E862844CA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11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5284CC-2DFD-4576-4509-7E3982596B47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F01BD2-A74E-F366-BDB2-F31C051A3842}"/>
              </a:ext>
            </a:extLst>
          </p:cNvPr>
          <p:cNvSpPr/>
          <p:nvPr/>
        </p:nvSpPr>
        <p:spPr>
          <a:xfrm>
            <a:off x="609600" y="1612900"/>
            <a:ext cx="5143500" cy="4546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99F090-6CA6-2F91-A8A1-291BDBDDFD33}"/>
              </a:ext>
            </a:extLst>
          </p:cNvPr>
          <p:cNvSpPr txBox="1"/>
          <p:nvPr/>
        </p:nvSpPr>
        <p:spPr>
          <a:xfrm>
            <a:off x="889000" y="18923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RANDOM FOREST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2AF7E5-CB88-EE97-D9E2-A8DE2EB46013}"/>
              </a:ext>
            </a:extLst>
          </p:cNvPr>
          <p:cNvSpPr txBox="1"/>
          <p:nvPr/>
        </p:nvSpPr>
        <p:spPr>
          <a:xfrm>
            <a:off x="889000" y="22606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22252A"/>
                </a:solidFill>
                <a:latin typeface="Segoe UI" panose="020B0502040204020203" pitchFamily="34" charset="0"/>
              </a:rPr>
              <a:t>Nhiều cây học song song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FE37135-17AA-5766-49F1-FBEB07CCB52D}"/>
              </a:ext>
            </a:extLst>
          </p:cNvPr>
          <p:cNvSpPr/>
          <p:nvPr/>
        </p:nvSpPr>
        <p:spPr>
          <a:xfrm>
            <a:off x="889000" y="2768600"/>
            <a:ext cx="4572000" cy="12446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4D31027-8694-65DE-C3F1-26966A2C02DE}"/>
              </a:ext>
            </a:extLst>
          </p:cNvPr>
          <p:cNvSpPr/>
          <p:nvPr/>
        </p:nvSpPr>
        <p:spPr>
          <a:xfrm>
            <a:off x="1498600" y="3022600"/>
            <a:ext cx="148590" cy="148590"/>
          </a:xfrm>
          <a:prstGeom prst="ellipse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3479772-D3D5-CF86-7D35-6C9C0FD674D3}"/>
              </a:ext>
            </a:extLst>
          </p:cNvPr>
          <p:cNvCxnSpPr/>
          <p:nvPr/>
        </p:nvCxnSpPr>
        <p:spPr>
          <a:xfrm flipH="1">
            <a:off x="1361440" y="3171190"/>
            <a:ext cx="211455" cy="205740"/>
          </a:xfrm>
          <a:prstGeom prst="straightConnector1">
            <a:avLst/>
          </a:prstGeom>
          <a:ln w="152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F45ED9-E945-3E7E-2D84-27666AD07CD4}"/>
              </a:ext>
            </a:extLst>
          </p:cNvPr>
          <p:cNvCxnSpPr/>
          <p:nvPr/>
        </p:nvCxnSpPr>
        <p:spPr>
          <a:xfrm>
            <a:off x="1572895" y="3171190"/>
            <a:ext cx="211455" cy="205740"/>
          </a:xfrm>
          <a:prstGeom prst="straightConnector1">
            <a:avLst/>
          </a:prstGeom>
          <a:ln w="152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C0642D1-6838-1286-21BA-8B4D3AC4C8A2}"/>
              </a:ext>
            </a:extLst>
          </p:cNvPr>
          <p:cNvSpPr/>
          <p:nvPr/>
        </p:nvSpPr>
        <p:spPr>
          <a:xfrm>
            <a:off x="1292860" y="334264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0C5DB10-70AE-1A7E-D3DE-90188E6B873F}"/>
              </a:ext>
            </a:extLst>
          </p:cNvPr>
          <p:cNvSpPr/>
          <p:nvPr/>
        </p:nvSpPr>
        <p:spPr>
          <a:xfrm>
            <a:off x="1715770" y="334264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D8FC7D3-EB11-D080-E643-34E175661CC7}"/>
              </a:ext>
            </a:extLst>
          </p:cNvPr>
          <p:cNvSpPr/>
          <p:nvPr/>
        </p:nvSpPr>
        <p:spPr>
          <a:xfrm>
            <a:off x="2311400" y="3022600"/>
            <a:ext cx="148590" cy="148590"/>
          </a:xfrm>
          <a:prstGeom prst="ellipse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F01EA5-F407-518C-6843-AD5EB8276946}"/>
              </a:ext>
            </a:extLst>
          </p:cNvPr>
          <p:cNvCxnSpPr/>
          <p:nvPr/>
        </p:nvCxnSpPr>
        <p:spPr>
          <a:xfrm flipH="1">
            <a:off x="2174240" y="3171190"/>
            <a:ext cx="211455" cy="205740"/>
          </a:xfrm>
          <a:prstGeom prst="straightConnector1">
            <a:avLst/>
          </a:prstGeom>
          <a:ln w="152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81C1516-A1C4-9EB6-A0C9-2AC6E1F3643C}"/>
              </a:ext>
            </a:extLst>
          </p:cNvPr>
          <p:cNvCxnSpPr/>
          <p:nvPr/>
        </p:nvCxnSpPr>
        <p:spPr>
          <a:xfrm>
            <a:off x="2385695" y="3171190"/>
            <a:ext cx="211455" cy="205740"/>
          </a:xfrm>
          <a:prstGeom prst="straightConnector1">
            <a:avLst/>
          </a:prstGeom>
          <a:ln w="152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513D4A9B-34EC-F1ED-3B54-451BA3281342}"/>
              </a:ext>
            </a:extLst>
          </p:cNvPr>
          <p:cNvSpPr/>
          <p:nvPr/>
        </p:nvSpPr>
        <p:spPr>
          <a:xfrm>
            <a:off x="2105660" y="334264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7EF9B10-DB1C-C3C5-1F82-DD9C231AB86D}"/>
              </a:ext>
            </a:extLst>
          </p:cNvPr>
          <p:cNvSpPr/>
          <p:nvPr/>
        </p:nvSpPr>
        <p:spPr>
          <a:xfrm>
            <a:off x="2528570" y="334264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47EEC3F4-F70C-4BFC-269D-2F769E570A38}"/>
              </a:ext>
            </a:extLst>
          </p:cNvPr>
          <p:cNvSpPr/>
          <p:nvPr/>
        </p:nvSpPr>
        <p:spPr>
          <a:xfrm>
            <a:off x="3124200" y="3022600"/>
            <a:ext cx="148590" cy="148590"/>
          </a:xfrm>
          <a:prstGeom prst="ellipse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0234A8F-02E3-C180-CB5B-A2492DD9F048}"/>
              </a:ext>
            </a:extLst>
          </p:cNvPr>
          <p:cNvCxnSpPr/>
          <p:nvPr/>
        </p:nvCxnSpPr>
        <p:spPr>
          <a:xfrm flipH="1">
            <a:off x="2987040" y="3171190"/>
            <a:ext cx="211455" cy="205740"/>
          </a:xfrm>
          <a:prstGeom prst="straightConnector1">
            <a:avLst/>
          </a:prstGeom>
          <a:ln w="152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4E9472-EA31-988D-45BB-CCE38449F937}"/>
              </a:ext>
            </a:extLst>
          </p:cNvPr>
          <p:cNvCxnSpPr/>
          <p:nvPr/>
        </p:nvCxnSpPr>
        <p:spPr>
          <a:xfrm>
            <a:off x="3198495" y="3171190"/>
            <a:ext cx="211455" cy="205740"/>
          </a:xfrm>
          <a:prstGeom prst="straightConnector1">
            <a:avLst/>
          </a:prstGeom>
          <a:ln w="152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0949F73C-673D-0E99-C65F-5913C15C3471}"/>
              </a:ext>
            </a:extLst>
          </p:cNvPr>
          <p:cNvSpPr/>
          <p:nvPr/>
        </p:nvSpPr>
        <p:spPr>
          <a:xfrm>
            <a:off x="2918460" y="334264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96C36F2-A3B6-49B1-F3E5-12D3164117B3}"/>
              </a:ext>
            </a:extLst>
          </p:cNvPr>
          <p:cNvSpPr/>
          <p:nvPr/>
        </p:nvSpPr>
        <p:spPr>
          <a:xfrm>
            <a:off x="3341370" y="3342640"/>
            <a:ext cx="137160" cy="1371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E9D6FED-1DFA-2AD1-224C-E606C95023A8}"/>
              </a:ext>
            </a:extLst>
          </p:cNvPr>
          <p:cNvCxnSpPr/>
          <p:nvPr/>
        </p:nvCxnSpPr>
        <p:spPr>
          <a:xfrm>
            <a:off x="1778000" y="3594100"/>
            <a:ext cx="711200" cy="139700"/>
          </a:xfrm>
          <a:prstGeom prst="straightConnector1">
            <a:avLst/>
          </a:prstGeom>
          <a:ln w="12700">
            <a:solidFill>
              <a:srgbClr val="716B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D1D759D-C3A9-0949-FCF3-45A305F0AA5C}"/>
              </a:ext>
            </a:extLst>
          </p:cNvPr>
          <p:cNvCxnSpPr/>
          <p:nvPr/>
        </p:nvCxnSpPr>
        <p:spPr>
          <a:xfrm>
            <a:off x="2590800" y="3594100"/>
            <a:ext cx="0" cy="139700"/>
          </a:xfrm>
          <a:prstGeom prst="straightConnector1">
            <a:avLst/>
          </a:prstGeom>
          <a:ln w="12700">
            <a:solidFill>
              <a:srgbClr val="716B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4729A44-D2C3-9907-EFC3-080527F4F290}"/>
              </a:ext>
            </a:extLst>
          </p:cNvPr>
          <p:cNvCxnSpPr/>
          <p:nvPr/>
        </p:nvCxnSpPr>
        <p:spPr>
          <a:xfrm flipH="1">
            <a:off x="2692400" y="3594100"/>
            <a:ext cx="711200" cy="139700"/>
          </a:xfrm>
          <a:prstGeom prst="straightConnector1">
            <a:avLst/>
          </a:prstGeom>
          <a:ln w="12700">
            <a:solidFill>
              <a:srgbClr val="716B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41E5EA5-C0C7-D59A-AE9C-7D98B0B31E9E}"/>
              </a:ext>
            </a:extLst>
          </p:cNvPr>
          <p:cNvSpPr txBox="1"/>
          <p:nvPr/>
        </p:nvSpPr>
        <p:spPr>
          <a:xfrm>
            <a:off x="2159000" y="3708400"/>
            <a:ext cx="88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900" b="1">
                <a:solidFill>
                  <a:srgbClr val="8C3B47"/>
                </a:solidFill>
                <a:latin typeface="Segoe UI" panose="020B0502040204020203" pitchFamily="34" charset="0"/>
              </a:rPr>
              <a:t>TRUNG BÌNH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4361FA9-0150-52DA-92A4-FFFCC1FD6EDF}"/>
              </a:ext>
            </a:extLst>
          </p:cNvPr>
          <p:cNvSpPr txBox="1"/>
          <p:nvPr/>
        </p:nvSpPr>
        <p:spPr>
          <a:xfrm>
            <a:off x="889000" y="42291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716B66"/>
                </a:solidFill>
                <a:latin typeface="Segoe UI" panose="020B0502040204020203" pitchFamily="34" charset="0"/>
              </a:rPr>
              <a:t>NGUYÊN LÝ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CF16CB0-9766-BBD1-A186-D767C8BC7CF4}"/>
              </a:ext>
            </a:extLst>
          </p:cNvPr>
          <p:cNvSpPr txBox="1"/>
          <p:nvPr/>
        </p:nvSpPr>
        <p:spPr>
          <a:xfrm>
            <a:off x="889000" y="44958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20">
                <a:solidFill>
                  <a:srgbClr val="22252A"/>
                </a:solidFill>
                <a:latin typeface="Segoe UI" panose="020B0502040204020203" pitchFamily="34" charset="0"/>
              </a:rPr>
              <a:t>Mỗi cây học trên mẫu và tập đặc trưng ngẫu nhiên; kết quả cuối là trung bình dự đoán.</a:t>
            </a:r>
            <a:endParaRPr lang="en-US" sz="142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F7D04F-21C5-BC15-237F-9A18E6D84601}"/>
              </a:ext>
            </a:extLst>
          </p:cNvPr>
          <p:cNvSpPr txBox="1"/>
          <p:nvPr/>
        </p:nvSpPr>
        <p:spPr>
          <a:xfrm>
            <a:off x="889000" y="533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00" b="1">
                <a:solidFill>
                  <a:srgbClr val="8C3B47"/>
                </a:solidFill>
                <a:latin typeface="Segoe UI" panose="020B0502040204020203" pitchFamily="34" charset="0"/>
              </a:rPr>
              <a:t>Giảm phương sai, học tốt quan hệ phi tuyến và tương tác giữa biến.</a:t>
            </a:r>
            <a:endParaRPr lang="en-US" sz="1300" b="1">
              <a:solidFill>
                <a:srgbClr val="8C3B47"/>
              </a:solidFill>
              <a:latin typeface="Segoe UI" panose="020B0502040204020203" pitchFamily="34" charset="0"/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B21FDD6-D615-FAB1-C5DE-334EAC6CA1E3}"/>
              </a:ext>
            </a:extLst>
          </p:cNvPr>
          <p:cNvSpPr/>
          <p:nvPr/>
        </p:nvSpPr>
        <p:spPr>
          <a:xfrm>
            <a:off x="6438900" y="1612900"/>
            <a:ext cx="5143500" cy="4546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A707B-4B59-AFEC-4C89-6AF59FBF402F}"/>
              </a:ext>
            </a:extLst>
          </p:cNvPr>
          <p:cNvSpPr txBox="1"/>
          <p:nvPr/>
        </p:nvSpPr>
        <p:spPr>
          <a:xfrm>
            <a:off x="6718300" y="18923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GRADIENT BOOSTING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E1C799-1620-217B-A7BA-4BE0CB585D78}"/>
              </a:ext>
            </a:extLst>
          </p:cNvPr>
          <p:cNvSpPr txBox="1"/>
          <p:nvPr/>
        </p:nvSpPr>
        <p:spPr>
          <a:xfrm>
            <a:off x="6718300" y="22606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22252A"/>
                </a:solidFill>
                <a:latin typeface="Segoe UI" panose="020B0502040204020203" pitchFamily="34" charset="0"/>
              </a:rPr>
              <a:t>Các cây sửa sai số tuần tự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268B2422-4974-D364-54AE-A36E7D26010C}"/>
              </a:ext>
            </a:extLst>
          </p:cNvPr>
          <p:cNvSpPr/>
          <p:nvPr/>
        </p:nvSpPr>
        <p:spPr>
          <a:xfrm>
            <a:off x="6718300" y="2768600"/>
            <a:ext cx="4572000" cy="12446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EE1510F-4623-FB76-A8CD-325177E27E4F}"/>
              </a:ext>
            </a:extLst>
          </p:cNvPr>
          <p:cNvSpPr/>
          <p:nvPr/>
        </p:nvSpPr>
        <p:spPr>
          <a:xfrm>
            <a:off x="7162800" y="3048000"/>
            <a:ext cx="132080" cy="132080"/>
          </a:xfrm>
          <a:prstGeom prst="ellipse">
            <a:avLst/>
          </a:prstGeom>
          <a:solidFill>
            <a:srgbClr val="716B6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B2524B5-8896-A03D-AC8A-D60D81F73F29}"/>
              </a:ext>
            </a:extLst>
          </p:cNvPr>
          <p:cNvCxnSpPr/>
          <p:nvPr/>
        </p:nvCxnSpPr>
        <p:spPr>
          <a:xfrm flipH="1">
            <a:off x="7040880" y="3180080"/>
            <a:ext cx="187960" cy="182880"/>
          </a:xfrm>
          <a:prstGeom prst="straightConnector1">
            <a:avLst/>
          </a:prstGeom>
          <a:ln w="15240">
            <a:solidFill>
              <a:srgbClr val="716B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3186BE8-693A-EA5C-8C27-E1A2598360B7}"/>
              </a:ext>
            </a:extLst>
          </p:cNvPr>
          <p:cNvCxnSpPr/>
          <p:nvPr/>
        </p:nvCxnSpPr>
        <p:spPr>
          <a:xfrm>
            <a:off x="7228840" y="3180080"/>
            <a:ext cx="187960" cy="182880"/>
          </a:xfrm>
          <a:prstGeom prst="straightConnector1">
            <a:avLst/>
          </a:prstGeom>
          <a:ln w="15240">
            <a:solidFill>
              <a:srgbClr val="716B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C0C7E205-1229-E5B9-E3E0-79A1540707C6}"/>
              </a:ext>
            </a:extLst>
          </p:cNvPr>
          <p:cNvSpPr/>
          <p:nvPr/>
        </p:nvSpPr>
        <p:spPr>
          <a:xfrm>
            <a:off x="6979920" y="3332480"/>
            <a:ext cx="121919" cy="121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16B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DCD874E0-E52E-A0C3-F00C-CC290C669CA9}"/>
              </a:ext>
            </a:extLst>
          </p:cNvPr>
          <p:cNvSpPr/>
          <p:nvPr/>
        </p:nvSpPr>
        <p:spPr>
          <a:xfrm>
            <a:off x="7355840" y="3332480"/>
            <a:ext cx="121920" cy="121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16B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6321857-C49F-25CB-D3CC-0C5EDDCDEFC3}"/>
              </a:ext>
            </a:extLst>
          </p:cNvPr>
          <p:cNvCxnSpPr/>
          <p:nvPr/>
        </p:nvCxnSpPr>
        <p:spPr>
          <a:xfrm>
            <a:off x="7670800" y="3340100"/>
            <a:ext cx="304800" cy="0"/>
          </a:xfrm>
          <a:prstGeom prst="straightConnector1">
            <a:avLst/>
          </a:prstGeom>
          <a:ln w="20320">
            <a:solidFill>
              <a:srgbClr val="8C3B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91981AB7-9300-B1F4-D86A-9BDDE7425DF3}"/>
              </a:ext>
            </a:extLst>
          </p:cNvPr>
          <p:cNvSpPr/>
          <p:nvPr/>
        </p:nvSpPr>
        <p:spPr>
          <a:xfrm>
            <a:off x="8191500" y="3048000"/>
            <a:ext cx="132080" cy="132080"/>
          </a:xfrm>
          <a:prstGeom prst="ellipse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EA59985-A405-EF23-EB89-2B230CA82D33}"/>
              </a:ext>
            </a:extLst>
          </p:cNvPr>
          <p:cNvCxnSpPr/>
          <p:nvPr/>
        </p:nvCxnSpPr>
        <p:spPr>
          <a:xfrm flipH="1">
            <a:off x="8069580" y="3180080"/>
            <a:ext cx="187960" cy="182880"/>
          </a:xfrm>
          <a:prstGeom prst="straightConnector1">
            <a:avLst/>
          </a:prstGeom>
          <a:ln w="152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BE43901-876A-1492-C9B1-CF996747F4CF}"/>
              </a:ext>
            </a:extLst>
          </p:cNvPr>
          <p:cNvCxnSpPr/>
          <p:nvPr/>
        </p:nvCxnSpPr>
        <p:spPr>
          <a:xfrm>
            <a:off x="8257540" y="3180080"/>
            <a:ext cx="187960" cy="182880"/>
          </a:xfrm>
          <a:prstGeom prst="straightConnector1">
            <a:avLst/>
          </a:prstGeom>
          <a:ln w="152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F58ED3D4-996B-65A8-E3B6-BE86A0FEA32A}"/>
              </a:ext>
            </a:extLst>
          </p:cNvPr>
          <p:cNvSpPr/>
          <p:nvPr/>
        </p:nvSpPr>
        <p:spPr>
          <a:xfrm>
            <a:off x="8008620" y="3332480"/>
            <a:ext cx="121919" cy="121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F78E6AF-EC9C-5D92-6296-98DC138E15DB}"/>
              </a:ext>
            </a:extLst>
          </p:cNvPr>
          <p:cNvSpPr/>
          <p:nvPr/>
        </p:nvSpPr>
        <p:spPr>
          <a:xfrm>
            <a:off x="8384540" y="3332480"/>
            <a:ext cx="121920" cy="121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66783E2-044F-230D-470A-1B3087678DAA}"/>
              </a:ext>
            </a:extLst>
          </p:cNvPr>
          <p:cNvCxnSpPr/>
          <p:nvPr/>
        </p:nvCxnSpPr>
        <p:spPr>
          <a:xfrm>
            <a:off x="8699500" y="3340100"/>
            <a:ext cx="304800" cy="0"/>
          </a:xfrm>
          <a:prstGeom prst="straightConnector1">
            <a:avLst/>
          </a:prstGeom>
          <a:ln w="20320">
            <a:solidFill>
              <a:srgbClr val="8C3B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F846D0A8-839E-A02D-4CE9-CAA7D1A40DDA}"/>
              </a:ext>
            </a:extLst>
          </p:cNvPr>
          <p:cNvSpPr/>
          <p:nvPr/>
        </p:nvSpPr>
        <p:spPr>
          <a:xfrm>
            <a:off x="9220200" y="3048000"/>
            <a:ext cx="132080" cy="132080"/>
          </a:xfrm>
          <a:prstGeom prst="ellipse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CCA553F1-F699-295A-7760-BF57875D51C0}"/>
              </a:ext>
            </a:extLst>
          </p:cNvPr>
          <p:cNvCxnSpPr/>
          <p:nvPr/>
        </p:nvCxnSpPr>
        <p:spPr>
          <a:xfrm flipH="1">
            <a:off x="9098280" y="3180080"/>
            <a:ext cx="187960" cy="182880"/>
          </a:xfrm>
          <a:prstGeom prst="straightConnector1">
            <a:avLst/>
          </a:prstGeom>
          <a:ln w="152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79FE96-8E9D-C4C9-8050-240B6DB82CA0}"/>
              </a:ext>
            </a:extLst>
          </p:cNvPr>
          <p:cNvCxnSpPr/>
          <p:nvPr/>
        </p:nvCxnSpPr>
        <p:spPr>
          <a:xfrm>
            <a:off x="9286240" y="3180080"/>
            <a:ext cx="187960" cy="182880"/>
          </a:xfrm>
          <a:prstGeom prst="straightConnector1">
            <a:avLst/>
          </a:prstGeom>
          <a:ln w="152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DC5DBB4A-26B1-DC4A-EFE8-8AA8482684B2}"/>
              </a:ext>
            </a:extLst>
          </p:cNvPr>
          <p:cNvSpPr/>
          <p:nvPr/>
        </p:nvSpPr>
        <p:spPr>
          <a:xfrm>
            <a:off x="9037320" y="3332480"/>
            <a:ext cx="121919" cy="121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F5AA60A-8F60-5B2E-AA88-D7C545D66C13}"/>
              </a:ext>
            </a:extLst>
          </p:cNvPr>
          <p:cNvSpPr/>
          <p:nvPr/>
        </p:nvSpPr>
        <p:spPr>
          <a:xfrm>
            <a:off x="9413240" y="3332480"/>
            <a:ext cx="121920" cy="121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49F10D-D7A0-440E-F123-7A2102B0DBA8}"/>
              </a:ext>
            </a:extLst>
          </p:cNvPr>
          <p:cNvSpPr txBox="1"/>
          <p:nvPr/>
        </p:nvSpPr>
        <p:spPr>
          <a:xfrm>
            <a:off x="7404100" y="3695700"/>
            <a:ext cx="215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880">
                <a:solidFill>
                  <a:srgbClr val="716B66"/>
                </a:solidFill>
                <a:latin typeface="Segoe UI" panose="020B0502040204020203" pitchFamily="34" charset="0"/>
              </a:rPr>
              <a:t>mỗi cây sửa phần sai số còn lại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FE37A16-66AF-E795-2CFE-A9E09F971C72}"/>
              </a:ext>
            </a:extLst>
          </p:cNvPr>
          <p:cNvSpPr txBox="1"/>
          <p:nvPr/>
        </p:nvSpPr>
        <p:spPr>
          <a:xfrm>
            <a:off x="6718300" y="42291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716B66"/>
                </a:solidFill>
                <a:latin typeface="Segoe UI" panose="020B0502040204020203" pitchFamily="34" charset="0"/>
              </a:rPr>
              <a:t>NGUYÊN LÝ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4AB12F7-969A-9BC4-B55C-B4E2F536DF4C}"/>
              </a:ext>
            </a:extLst>
          </p:cNvPr>
          <p:cNvSpPr txBox="1"/>
          <p:nvPr/>
        </p:nvSpPr>
        <p:spPr>
          <a:xfrm>
            <a:off x="6718300" y="44958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20">
                <a:solidFill>
                  <a:srgbClr val="22252A"/>
                </a:solidFill>
                <a:latin typeface="Segoe UI" panose="020B0502040204020203" pitchFamily="34" charset="0"/>
              </a:rPr>
              <a:t>Cây sau học phần sai số của tổ hợp trước; dự đoán cuối là tổng có trọng số của các cây.</a:t>
            </a:r>
            <a:endParaRPr lang="en-US" sz="142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10761C5-7C7A-65EC-9324-F3531EE3A62B}"/>
              </a:ext>
            </a:extLst>
          </p:cNvPr>
          <p:cNvSpPr txBox="1"/>
          <p:nvPr/>
        </p:nvSpPr>
        <p:spPr>
          <a:xfrm>
            <a:off x="6718300" y="53340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00" b="1">
                <a:solidFill>
                  <a:srgbClr val="8C3B47"/>
                </a:solidFill>
                <a:latin typeface="Segoe UI" panose="020B0502040204020203" pitchFamily="34" charset="0"/>
              </a:rPr>
              <a:t>Chính xác cao nhưng nhạy với learning rate, độ sâu và overfit.</a:t>
            </a:r>
            <a:endParaRPr lang="en-US" sz="1300" b="1">
              <a:solidFill>
                <a:srgbClr val="8C3B47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03081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D208D8-ECF4-0614-4651-7A5F593A25A9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22252A"/>
                </a:solidFill>
                <a:latin typeface="Segoe UI" panose="020B0502040204020203" pitchFamily="34" charset="0"/>
              </a:rPr>
              <a:t>Cross Validation và tuning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BA8F65-13D0-AF31-888E-9A955D5D339E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MODEL SELECTION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A4467-61B8-C722-3D1D-97F0287F83E1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937E65-972B-F94E-8789-A4BA21EC2D61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2905AE-7BE6-A85D-A576-C33205147686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D62517C-86E3-29BB-0698-24279F4C0BF6}"/>
              </a:ext>
            </a:extLst>
          </p:cNvPr>
          <p:cNvSpPr/>
          <p:nvPr/>
        </p:nvSpPr>
        <p:spPr>
          <a:xfrm>
            <a:off x="609600" y="1651000"/>
            <a:ext cx="6477000" cy="4089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778B51-312A-2B04-254B-56BC20B8989F}"/>
              </a:ext>
            </a:extLst>
          </p:cNvPr>
          <p:cNvSpPr txBox="1"/>
          <p:nvPr/>
        </p:nvSpPr>
        <p:spPr>
          <a:xfrm>
            <a:off x="914400" y="1943100"/>
            <a:ext cx="3429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5-FOLD CROSS VALIDATION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1021D8-DFFE-6C7F-CC1D-0F05DBABC7D8}"/>
              </a:ext>
            </a:extLst>
          </p:cNvPr>
          <p:cNvSpPr txBox="1"/>
          <p:nvPr/>
        </p:nvSpPr>
        <p:spPr>
          <a:xfrm>
            <a:off x="914400" y="24384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716B66"/>
                </a:solidFill>
                <a:latin typeface="Segoe UI" panose="020B0502040204020203" pitchFamily="34" charset="0"/>
              </a:rPr>
              <a:t>Fold 1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2B0A56E-12DF-D2E5-6922-768F8EAA6390}"/>
              </a:ext>
            </a:extLst>
          </p:cNvPr>
          <p:cNvSpPr/>
          <p:nvPr/>
        </p:nvSpPr>
        <p:spPr>
          <a:xfrm>
            <a:off x="1739900" y="2387600"/>
            <a:ext cx="736600" cy="330200"/>
          </a:xfrm>
          <a:prstGeom prst="round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79275D-8282-CBC0-7C43-E83F9251CA00}"/>
              </a:ext>
            </a:extLst>
          </p:cNvPr>
          <p:cNvSpPr txBox="1"/>
          <p:nvPr/>
        </p:nvSpPr>
        <p:spPr>
          <a:xfrm>
            <a:off x="1739900" y="23876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Segoe UI" panose="020B0502040204020203" pitchFamily="34" charset="0"/>
              </a:rPr>
              <a:t>VAL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E32275E-F949-4155-4889-B6DE28B779A7}"/>
              </a:ext>
            </a:extLst>
          </p:cNvPr>
          <p:cNvSpPr/>
          <p:nvPr/>
        </p:nvSpPr>
        <p:spPr>
          <a:xfrm>
            <a:off x="2628900" y="23876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D8E094-7007-24C4-391E-9AC9B4AD33DF}"/>
              </a:ext>
            </a:extLst>
          </p:cNvPr>
          <p:cNvSpPr txBox="1"/>
          <p:nvPr/>
        </p:nvSpPr>
        <p:spPr>
          <a:xfrm>
            <a:off x="2628900" y="23876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8E15150-8288-0A12-D597-4C1BE5A27D36}"/>
              </a:ext>
            </a:extLst>
          </p:cNvPr>
          <p:cNvSpPr/>
          <p:nvPr/>
        </p:nvSpPr>
        <p:spPr>
          <a:xfrm>
            <a:off x="3517900" y="23876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2AB278-16B9-92DE-2798-3F076058FE9B}"/>
              </a:ext>
            </a:extLst>
          </p:cNvPr>
          <p:cNvSpPr txBox="1"/>
          <p:nvPr/>
        </p:nvSpPr>
        <p:spPr>
          <a:xfrm>
            <a:off x="3517900" y="23876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CC1CDD0-526F-8606-4638-AE2BC5AEC845}"/>
              </a:ext>
            </a:extLst>
          </p:cNvPr>
          <p:cNvSpPr/>
          <p:nvPr/>
        </p:nvSpPr>
        <p:spPr>
          <a:xfrm>
            <a:off x="4406900" y="23876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E25D7A-4BAC-1356-8DE3-FCE386AEC053}"/>
              </a:ext>
            </a:extLst>
          </p:cNvPr>
          <p:cNvSpPr txBox="1"/>
          <p:nvPr/>
        </p:nvSpPr>
        <p:spPr>
          <a:xfrm>
            <a:off x="4406900" y="23876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6CED95B-7D22-DF55-4630-75B6A5883DD8}"/>
              </a:ext>
            </a:extLst>
          </p:cNvPr>
          <p:cNvSpPr/>
          <p:nvPr/>
        </p:nvSpPr>
        <p:spPr>
          <a:xfrm>
            <a:off x="5295900" y="23876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05098E-658F-F923-A2E3-A2CAE2E75D79}"/>
              </a:ext>
            </a:extLst>
          </p:cNvPr>
          <p:cNvSpPr txBox="1"/>
          <p:nvPr/>
        </p:nvSpPr>
        <p:spPr>
          <a:xfrm>
            <a:off x="5295900" y="23876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B03C6B-8C75-A247-8F31-E892F1F9B580}"/>
              </a:ext>
            </a:extLst>
          </p:cNvPr>
          <p:cNvSpPr txBox="1"/>
          <p:nvPr/>
        </p:nvSpPr>
        <p:spPr>
          <a:xfrm>
            <a:off x="914400" y="29718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716B66"/>
                </a:solidFill>
                <a:latin typeface="Segoe UI" panose="020B0502040204020203" pitchFamily="34" charset="0"/>
              </a:rPr>
              <a:t>Fold 2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828AEF3-F578-74D2-A383-9905E9B33A41}"/>
              </a:ext>
            </a:extLst>
          </p:cNvPr>
          <p:cNvSpPr/>
          <p:nvPr/>
        </p:nvSpPr>
        <p:spPr>
          <a:xfrm>
            <a:off x="1739900" y="29210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80B230-FCE1-2D35-2AE3-6504C713985F}"/>
              </a:ext>
            </a:extLst>
          </p:cNvPr>
          <p:cNvSpPr txBox="1"/>
          <p:nvPr/>
        </p:nvSpPr>
        <p:spPr>
          <a:xfrm>
            <a:off x="1739900" y="29210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73FB379-71A1-00EA-A22C-4B4650130544}"/>
              </a:ext>
            </a:extLst>
          </p:cNvPr>
          <p:cNvSpPr/>
          <p:nvPr/>
        </p:nvSpPr>
        <p:spPr>
          <a:xfrm>
            <a:off x="2628900" y="2921000"/>
            <a:ext cx="736600" cy="330200"/>
          </a:xfrm>
          <a:prstGeom prst="round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2A0548-1555-9A4A-B750-167F20FEEAD0}"/>
              </a:ext>
            </a:extLst>
          </p:cNvPr>
          <p:cNvSpPr txBox="1"/>
          <p:nvPr/>
        </p:nvSpPr>
        <p:spPr>
          <a:xfrm>
            <a:off x="2628900" y="29210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Segoe UI" panose="020B0502040204020203" pitchFamily="34" charset="0"/>
              </a:rPr>
              <a:t>VAL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7B1B7FA-D439-503E-EAA5-BABE0BBD63E8}"/>
              </a:ext>
            </a:extLst>
          </p:cNvPr>
          <p:cNvSpPr/>
          <p:nvPr/>
        </p:nvSpPr>
        <p:spPr>
          <a:xfrm>
            <a:off x="3517900" y="29210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EF4C75-BD9D-D255-67EC-5AA70B3886A1}"/>
              </a:ext>
            </a:extLst>
          </p:cNvPr>
          <p:cNvSpPr txBox="1"/>
          <p:nvPr/>
        </p:nvSpPr>
        <p:spPr>
          <a:xfrm>
            <a:off x="3517900" y="29210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1D25822-4296-2F0E-6CB0-C7987505ADCA}"/>
              </a:ext>
            </a:extLst>
          </p:cNvPr>
          <p:cNvSpPr/>
          <p:nvPr/>
        </p:nvSpPr>
        <p:spPr>
          <a:xfrm>
            <a:off x="4406900" y="29210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A2161-B4BE-AFF4-3607-C8FF5BDDE04F}"/>
              </a:ext>
            </a:extLst>
          </p:cNvPr>
          <p:cNvSpPr txBox="1"/>
          <p:nvPr/>
        </p:nvSpPr>
        <p:spPr>
          <a:xfrm>
            <a:off x="4406900" y="29210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9B8FF98-67D6-DFF2-83A9-4718F9A52E0A}"/>
              </a:ext>
            </a:extLst>
          </p:cNvPr>
          <p:cNvSpPr/>
          <p:nvPr/>
        </p:nvSpPr>
        <p:spPr>
          <a:xfrm>
            <a:off x="5295900" y="29210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96C92DE-FB70-1D08-5FC3-3605BFD2C0E2}"/>
              </a:ext>
            </a:extLst>
          </p:cNvPr>
          <p:cNvSpPr txBox="1"/>
          <p:nvPr/>
        </p:nvSpPr>
        <p:spPr>
          <a:xfrm>
            <a:off x="5295900" y="29210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23266E-6E1C-FA13-D81B-541FF73D7781}"/>
              </a:ext>
            </a:extLst>
          </p:cNvPr>
          <p:cNvSpPr txBox="1"/>
          <p:nvPr/>
        </p:nvSpPr>
        <p:spPr>
          <a:xfrm>
            <a:off x="914400" y="35052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716B66"/>
                </a:solidFill>
                <a:latin typeface="Segoe UI" panose="020B0502040204020203" pitchFamily="34" charset="0"/>
              </a:rPr>
              <a:t>Fold 3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0BC105F-622C-0193-756D-4304BC231533}"/>
              </a:ext>
            </a:extLst>
          </p:cNvPr>
          <p:cNvSpPr/>
          <p:nvPr/>
        </p:nvSpPr>
        <p:spPr>
          <a:xfrm>
            <a:off x="1739900" y="34544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0AEFF7-0D93-616B-B0AA-8E50D65C2856}"/>
              </a:ext>
            </a:extLst>
          </p:cNvPr>
          <p:cNvSpPr txBox="1"/>
          <p:nvPr/>
        </p:nvSpPr>
        <p:spPr>
          <a:xfrm>
            <a:off x="1739900" y="34544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569546A-C5B1-32D9-BED0-BDE04A43406E}"/>
              </a:ext>
            </a:extLst>
          </p:cNvPr>
          <p:cNvSpPr/>
          <p:nvPr/>
        </p:nvSpPr>
        <p:spPr>
          <a:xfrm>
            <a:off x="2628900" y="34544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FDF1463-E787-9BDC-1097-EB64C429CD82}"/>
              </a:ext>
            </a:extLst>
          </p:cNvPr>
          <p:cNvSpPr txBox="1"/>
          <p:nvPr/>
        </p:nvSpPr>
        <p:spPr>
          <a:xfrm>
            <a:off x="2628900" y="34544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D6CF27C-9D3A-30D6-047A-31D2CB379192}"/>
              </a:ext>
            </a:extLst>
          </p:cNvPr>
          <p:cNvSpPr/>
          <p:nvPr/>
        </p:nvSpPr>
        <p:spPr>
          <a:xfrm>
            <a:off x="3517900" y="3454400"/>
            <a:ext cx="736600" cy="330200"/>
          </a:xfrm>
          <a:prstGeom prst="round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9E967F-A28B-08DD-D640-1C8A679A1293}"/>
              </a:ext>
            </a:extLst>
          </p:cNvPr>
          <p:cNvSpPr txBox="1"/>
          <p:nvPr/>
        </p:nvSpPr>
        <p:spPr>
          <a:xfrm>
            <a:off x="3517900" y="34544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Segoe UI" panose="020B0502040204020203" pitchFamily="34" charset="0"/>
              </a:rPr>
              <a:t>VAL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CFD082D7-7334-6CC6-4420-504DA0CDFF89}"/>
              </a:ext>
            </a:extLst>
          </p:cNvPr>
          <p:cNvSpPr/>
          <p:nvPr/>
        </p:nvSpPr>
        <p:spPr>
          <a:xfrm>
            <a:off x="4406900" y="34544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89957FC-6ECF-0AF8-20A6-F3D10D8F13DB}"/>
              </a:ext>
            </a:extLst>
          </p:cNvPr>
          <p:cNvSpPr txBox="1"/>
          <p:nvPr/>
        </p:nvSpPr>
        <p:spPr>
          <a:xfrm>
            <a:off x="4406900" y="34544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5E0048D-997B-99C1-B8FC-2B53DCFE85BE}"/>
              </a:ext>
            </a:extLst>
          </p:cNvPr>
          <p:cNvSpPr/>
          <p:nvPr/>
        </p:nvSpPr>
        <p:spPr>
          <a:xfrm>
            <a:off x="5295900" y="34544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E651AF0-002F-99B8-8601-979E47C4FFC5}"/>
              </a:ext>
            </a:extLst>
          </p:cNvPr>
          <p:cNvSpPr txBox="1"/>
          <p:nvPr/>
        </p:nvSpPr>
        <p:spPr>
          <a:xfrm>
            <a:off x="5295900" y="34544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0F3D68-C1B9-4675-27B4-FDD5E096F111}"/>
              </a:ext>
            </a:extLst>
          </p:cNvPr>
          <p:cNvSpPr txBox="1"/>
          <p:nvPr/>
        </p:nvSpPr>
        <p:spPr>
          <a:xfrm>
            <a:off x="914400" y="40386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716B66"/>
                </a:solidFill>
                <a:latin typeface="Segoe UI" panose="020B0502040204020203" pitchFamily="34" charset="0"/>
              </a:rPr>
              <a:t>Fold 4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12AC8E3A-CBDA-07B1-8E66-F099E2528B82}"/>
              </a:ext>
            </a:extLst>
          </p:cNvPr>
          <p:cNvSpPr/>
          <p:nvPr/>
        </p:nvSpPr>
        <p:spPr>
          <a:xfrm>
            <a:off x="1739900" y="39878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50691E6-99C2-1CDC-8AC7-746389F53452}"/>
              </a:ext>
            </a:extLst>
          </p:cNvPr>
          <p:cNvSpPr txBox="1"/>
          <p:nvPr/>
        </p:nvSpPr>
        <p:spPr>
          <a:xfrm>
            <a:off x="1739900" y="39878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8911CC56-409F-39D3-6DCA-1114206DDF65}"/>
              </a:ext>
            </a:extLst>
          </p:cNvPr>
          <p:cNvSpPr/>
          <p:nvPr/>
        </p:nvSpPr>
        <p:spPr>
          <a:xfrm>
            <a:off x="2628900" y="39878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CB36F7-B7F3-CC9A-9653-48ED1EF51E3D}"/>
              </a:ext>
            </a:extLst>
          </p:cNvPr>
          <p:cNvSpPr txBox="1"/>
          <p:nvPr/>
        </p:nvSpPr>
        <p:spPr>
          <a:xfrm>
            <a:off x="2628900" y="39878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1B2CBA3A-12B1-23CC-4301-1B464C244E9A}"/>
              </a:ext>
            </a:extLst>
          </p:cNvPr>
          <p:cNvSpPr/>
          <p:nvPr/>
        </p:nvSpPr>
        <p:spPr>
          <a:xfrm>
            <a:off x="3517900" y="39878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C88B0E3-88C0-EB0C-D8F2-88EDB0A1888D}"/>
              </a:ext>
            </a:extLst>
          </p:cNvPr>
          <p:cNvSpPr txBox="1"/>
          <p:nvPr/>
        </p:nvSpPr>
        <p:spPr>
          <a:xfrm>
            <a:off x="3517900" y="39878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E805CFAA-BC2A-9734-AB81-882E7C027B27}"/>
              </a:ext>
            </a:extLst>
          </p:cNvPr>
          <p:cNvSpPr/>
          <p:nvPr/>
        </p:nvSpPr>
        <p:spPr>
          <a:xfrm>
            <a:off x="4406900" y="3987800"/>
            <a:ext cx="736600" cy="330200"/>
          </a:xfrm>
          <a:prstGeom prst="round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34FF8C1-6705-0CF8-9295-94881361954C}"/>
              </a:ext>
            </a:extLst>
          </p:cNvPr>
          <p:cNvSpPr txBox="1"/>
          <p:nvPr/>
        </p:nvSpPr>
        <p:spPr>
          <a:xfrm>
            <a:off x="4406900" y="39878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Segoe UI" panose="020B0502040204020203" pitchFamily="34" charset="0"/>
              </a:rPr>
              <a:t>VAL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FBB9E0FC-4C36-DE95-EF55-8D6154CBE93A}"/>
              </a:ext>
            </a:extLst>
          </p:cNvPr>
          <p:cNvSpPr/>
          <p:nvPr/>
        </p:nvSpPr>
        <p:spPr>
          <a:xfrm>
            <a:off x="5295900" y="39878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856236-EB71-3D98-44BE-63004217804B}"/>
              </a:ext>
            </a:extLst>
          </p:cNvPr>
          <p:cNvSpPr txBox="1"/>
          <p:nvPr/>
        </p:nvSpPr>
        <p:spPr>
          <a:xfrm>
            <a:off x="5295900" y="39878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86C17A8-D997-81AE-D483-AD34E0A2D90B}"/>
              </a:ext>
            </a:extLst>
          </p:cNvPr>
          <p:cNvSpPr txBox="1"/>
          <p:nvPr/>
        </p:nvSpPr>
        <p:spPr>
          <a:xfrm>
            <a:off x="914400" y="4572000"/>
            <a:ext cx="685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 b="1">
                <a:solidFill>
                  <a:srgbClr val="716B66"/>
                </a:solidFill>
                <a:latin typeface="Segoe UI" panose="020B0502040204020203" pitchFamily="34" charset="0"/>
              </a:rPr>
              <a:t>Fold 5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5EA88D3D-7D1C-FA4E-E35F-64F7E1D8D058}"/>
              </a:ext>
            </a:extLst>
          </p:cNvPr>
          <p:cNvSpPr/>
          <p:nvPr/>
        </p:nvSpPr>
        <p:spPr>
          <a:xfrm>
            <a:off x="1739900" y="45212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3EA9879-8C08-6177-3FA5-70646B366058}"/>
              </a:ext>
            </a:extLst>
          </p:cNvPr>
          <p:cNvSpPr txBox="1"/>
          <p:nvPr/>
        </p:nvSpPr>
        <p:spPr>
          <a:xfrm>
            <a:off x="1739900" y="45212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4727852-11C5-91AC-50A0-B31D9EC201FF}"/>
              </a:ext>
            </a:extLst>
          </p:cNvPr>
          <p:cNvSpPr/>
          <p:nvPr/>
        </p:nvSpPr>
        <p:spPr>
          <a:xfrm>
            <a:off x="2628900" y="45212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7FFDC8-5526-E98E-E60E-AC9B7457CFD3}"/>
              </a:ext>
            </a:extLst>
          </p:cNvPr>
          <p:cNvSpPr txBox="1"/>
          <p:nvPr/>
        </p:nvSpPr>
        <p:spPr>
          <a:xfrm>
            <a:off x="2628900" y="45212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3D4F6C8-A87B-F448-5C62-7BB6227655A3}"/>
              </a:ext>
            </a:extLst>
          </p:cNvPr>
          <p:cNvSpPr/>
          <p:nvPr/>
        </p:nvSpPr>
        <p:spPr>
          <a:xfrm>
            <a:off x="3517900" y="45212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D576C8-C0BF-8132-AEAC-F940DC61FB3D}"/>
              </a:ext>
            </a:extLst>
          </p:cNvPr>
          <p:cNvSpPr txBox="1"/>
          <p:nvPr/>
        </p:nvSpPr>
        <p:spPr>
          <a:xfrm>
            <a:off x="3517900" y="45212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528895A1-990E-3160-2A08-603A2E56053B}"/>
              </a:ext>
            </a:extLst>
          </p:cNvPr>
          <p:cNvSpPr/>
          <p:nvPr/>
        </p:nvSpPr>
        <p:spPr>
          <a:xfrm>
            <a:off x="4406900" y="4521200"/>
            <a:ext cx="736600" cy="330200"/>
          </a:xfrm>
          <a:prstGeom prst="roundRect">
            <a:avLst/>
          </a:prstGeom>
          <a:solidFill>
            <a:srgbClr val="F3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437C826-8C52-3CCD-6DFD-14FE0ADD0C1B}"/>
              </a:ext>
            </a:extLst>
          </p:cNvPr>
          <p:cNvSpPr txBox="1"/>
          <p:nvPr/>
        </p:nvSpPr>
        <p:spPr>
          <a:xfrm>
            <a:off x="4406900" y="45212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22252A"/>
                </a:solidFill>
                <a:latin typeface="Segoe UI" panose="020B0502040204020203" pitchFamily="34" charset="0"/>
              </a:rPr>
              <a:t>TRAIN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1848883D-4439-C26A-689C-68E2ED332364}"/>
              </a:ext>
            </a:extLst>
          </p:cNvPr>
          <p:cNvSpPr/>
          <p:nvPr/>
        </p:nvSpPr>
        <p:spPr>
          <a:xfrm>
            <a:off x="5295900" y="4521200"/>
            <a:ext cx="736600" cy="330200"/>
          </a:xfrm>
          <a:prstGeom prst="round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3BDAA77-DBDB-958C-96D9-04158234EFAA}"/>
              </a:ext>
            </a:extLst>
          </p:cNvPr>
          <p:cNvSpPr txBox="1"/>
          <p:nvPr/>
        </p:nvSpPr>
        <p:spPr>
          <a:xfrm>
            <a:off x="5295900" y="4521200"/>
            <a:ext cx="7366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b="1">
                <a:solidFill>
                  <a:srgbClr val="FFFFFF"/>
                </a:solidFill>
                <a:latin typeface="Segoe UI" panose="020B0502040204020203" pitchFamily="34" charset="0"/>
              </a:rPr>
              <a:t>VAL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56F770F-D981-9475-081C-C4FDCF6CD932}"/>
              </a:ext>
            </a:extLst>
          </p:cNvPr>
          <p:cNvSpPr txBox="1"/>
          <p:nvPr/>
        </p:nvSpPr>
        <p:spPr>
          <a:xfrm>
            <a:off x="914400" y="5257800"/>
            <a:ext cx="546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00">
                <a:solidFill>
                  <a:srgbClr val="716B66"/>
                </a:solidFill>
                <a:latin typeface="Segoe UI" panose="020B0502040204020203" pitchFamily="34" charset="0"/>
              </a:rPr>
              <a:t>Mỗi mẫu được dùng để validation đúng 1 lần.</a:t>
            </a:r>
            <a:endParaRPr lang="en-US" sz="130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00709636-3400-F857-6D39-78CBFEB71B6A}"/>
              </a:ext>
            </a:extLst>
          </p:cNvPr>
          <p:cNvSpPr/>
          <p:nvPr/>
        </p:nvSpPr>
        <p:spPr>
          <a:xfrm>
            <a:off x="7493000" y="1651000"/>
            <a:ext cx="4089400" cy="40894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C9BDE20-1D40-13F5-4E0B-14317D139059}"/>
              </a:ext>
            </a:extLst>
          </p:cNvPr>
          <p:cNvSpPr txBox="1"/>
          <p:nvPr/>
        </p:nvSpPr>
        <p:spPr>
          <a:xfrm>
            <a:off x="7835900" y="1943100"/>
            <a:ext cx="317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TINH CHỈNH SIÊU THAM SỐ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DA10D18-2E75-DC8A-EFED-AA825F98BFDD}"/>
              </a:ext>
            </a:extLst>
          </p:cNvPr>
          <p:cNvSpPr txBox="1"/>
          <p:nvPr/>
        </p:nvSpPr>
        <p:spPr>
          <a:xfrm>
            <a:off x="7835900" y="2413000"/>
            <a:ext cx="327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80">
                <a:solidFill>
                  <a:srgbClr val="22252A"/>
                </a:solidFill>
                <a:latin typeface="Segoe UI" panose="020B0502040204020203" pitchFamily="34" charset="0"/>
              </a:rPr>
              <a:t>•  Mỗi cấu hình được đánh giá qua 5 fold; chọn theo CV RMSE trung bình.</a:t>
            </a:r>
            <a:endParaRPr lang="en-US" sz="128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A14ABB1-6AF7-4E5E-D046-B49201441E46}"/>
              </a:ext>
            </a:extLst>
          </p:cNvPr>
          <p:cNvSpPr txBox="1"/>
          <p:nvPr/>
        </p:nvSpPr>
        <p:spPr>
          <a:xfrm>
            <a:off x="7835900" y="3035300"/>
            <a:ext cx="327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80">
                <a:solidFill>
                  <a:srgbClr val="22252A"/>
                </a:solidFill>
                <a:latin typeface="Segoe UI" panose="020B0502040204020203" pitchFamily="34" charset="0"/>
              </a:rPr>
              <a:t>•  Ridge: alpha = 10 • CV RMSE 0,6648.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743103D-25AC-36FD-6956-237D3E2DB467}"/>
              </a:ext>
            </a:extLst>
          </p:cNvPr>
          <p:cNvSpPr txBox="1"/>
          <p:nvPr/>
        </p:nvSpPr>
        <p:spPr>
          <a:xfrm>
            <a:off x="7835900" y="3657600"/>
            <a:ext cx="327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80">
                <a:solidFill>
                  <a:srgbClr val="22252A"/>
                </a:solidFill>
                <a:latin typeface="Segoe UI" panose="020B0502040204020203" pitchFamily="34" charset="0"/>
              </a:rPr>
              <a:t>•  Random Forest: 200 cây, depth 10 • 0,6583.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254B1F4-A6AF-EAB4-3591-E8A445A436B3}"/>
              </a:ext>
            </a:extLst>
          </p:cNvPr>
          <p:cNvSpPr txBox="1"/>
          <p:nvPr/>
        </p:nvSpPr>
        <p:spPr>
          <a:xfrm>
            <a:off x="7835900" y="4279900"/>
            <a:ext cx="327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80">
                <a:solidFill>
                  <a:srgbClr val="22252A"/>
                </a:solidFill>
                <a:latin typeface="Segoe UI" panose="020B0502040204020203" pitchFamily="34" charset="0"/>
              </a:rPr>
              <a:t>•  Gradient Boosting: lr 0,05, depth 3, 100 cây • 0,6571.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D8B123-EDE9-E689-DF09-1D42BD3B69B7}"/>
              </a:ext>
            </a:extLst>
          </p:cNvPr>
          <p:cNvSpPr txBox="1"/>
          <p:nvPr/>
        </p:nvSpPr>
        <p:spPr>
          <a:xfrm>
            <a:off x="7835900" y="4902200"/>
            <a:ext cx="3276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80">
                <a:solidFill>
                  <a:srgbClr val="22252A"/>
                </a:solidFill>
                <a:latin typeface="Segoe UI" panose="020B0502040204020203" pitchFamily="34" charset="0"/>
              </a:rPr>
              <a:t>•  Toàn bộ tuning chỉ dùng train; test được khóa đến bước cuối.</a:t>
            </a:r>
            <a:endParaRPr lang="en-US" sz="128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3575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580E02-2E23-55FA-622B-D2C4F11C2F5E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22252A"/>
                </a:solidFill>
                <a:latin typeface="Segoe UI" panose="020B0502040204020203" pitchFamily="34" charset="0"/>
              </a:rPr>
              <a:t>Bốn góc nhìn về sai số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339C3A-4EF7-D20F-2EE6-308483F6B235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METRICS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3FFC3A-6B3C-27DC-AA39-5AA879275F72}"/>
              </a:ext>
            </a:extLst>
          </p:cNvPr>
          <p:cNvSpPr/>
          <p:nvPr/>
        </p:nvSpPr>
        <p:spPr>
          <a:xfrm>
            <a:off x="609600" y="1231900"/>
            <a:ext cx="736600" cy="50800"/>
          </a:xfrm>
          <a:prstGeom prst="rect">
            <a:avLst/>
          </a:prstGeom>
          <a:solidFill>
            <a:srgbClr val="8C3B4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CBE6F9-F7C6-D0A2-F016-071A1A7AE642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13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24DCE-906A-3285-D4A2-437716378796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4B7E0F-C72C-E0AD-698B-CA9BC1B7EBF8}"/>
              </a:ext>
            </a:extLst>
          </p:cNvPr>
          <p:cNvSpPr/>
          <p:nvPr/>
        </p:nvSpPr>
        <p:spPr>
          <a:xfrm>
            <a:off x="609600" y="1765300"/>
            <a:ext cx="2514600" cy="1841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6F9640-0E50-5F39-00CE-9930FAC4FDE9}"/>
              </a:ext>
            </a:extLst>
          </p:cNvPr>
          <p:cNvSpPr txBox="1"/>
          <p:nvPr/>
        </p:nvSpPr>
        <p:spPr>
          <a:xfrm>
            <a:off x="812800" y="19431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8C3B47"/>
                </a:solidFill>
                <a:latin typeface="Segoe UI" panose="020B0502040204020203" pitchFamily="34" charset="0"/>
              </a:rPr>
              <a:t>MAE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362321-D930-7051-2C42-07F05EEE70AA}"/>
              </a:ext>
            </a:extLst>
          </p:cNvPr>
          <p:cNvSpPr txBox="1"/>
          <p:nvPr/>
        </p:nvSpPr>
        <p:spPr>
          <a:xfrm>
            <a:off x="812800" y="23368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500" b="1">
                <a:solidFill>
                  <a:srgbClr val="22252A"/>
                </a:solidFill>
                <a:latin typeface="Segoe UI" panose="020B0502040204020203" pitchFamily="34" charset="0"/>
              </a:rPr>
              <a:t>|sai số| TB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C73D9D-1241-F999-B443-38A372BAD97E}"/>
              </a:ext>
            </a:extLst>
          </p:cNvPr>
          <p:cNvSpPr txBox="1"/>
          <p:nvPr/>
        </p:nvSpPr>
        <p:spPr>
          <a:xfrm>
            <a:off x="812800" y="2870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50">
                <a:solidFill>
                  <a:srgbClr val="716B66"/>
                </a:solidFill>
                <a:latin typeface="Segoe UI" panose="020B0502040204020203" pitchFamily="34" charset="0"/>
              </a:rPr>
              <a:t>Dễ hiểu theo đơn vị điểm quality.</a:t>
            </a:r>
            <a:endParaRPr lang="en-US" sz="125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22C16CE-5B68-C4C5-A834-2D42C30D79F6}"/>
              </a:ext>
            </a:extLst>
          </p:cNvPr>
          <p:cNvSpPr/>
          <p:nvPr/>
        </p:nvSpPr>
        <p:spPr>
          <a:xfrm>
            <a:off x="3352800" y="1765300"/>
            <a:ext cx="2514600" cy="1841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A50D83-A52F-6FF6-B8C1-ACEC19D19047}"/>
              </a:ext>
            </a:extLst>
          </p:cNvPr>
          <p:cNvSpPr txBox="1"/>
          <p:nvPr/>
        </p:nvSpPr>
        <p:spPr>
          <a:xfrm>
            <a:off x="3556000" y="19431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8C3B47"/>
                </a:solidFill>
                <a:latin typeface="Segoe UI" panose="020B0502040204020203" pitchFamily="34" charset="0"/>
              </a:rPr>
              <a:t>MSE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632CB3-86D0-5A04-EEEC-ABB97A4A1131}"/>
              </a:ext>
            </a:extLst>
          </p:cNvPr>
          <p:cNvSpPr txBox="1"/>
          <p:nvPr/>
        </p:nvSpPr>
        <p:spPr>
          <a:xfrm>
            <a:off x="3556000" y="23368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500" b="1">
                <a:solidFill>
                  <a:srgbClr val="22252A"/>
                </a:solidFill>
                <a:latin typeface="Segoe UI" panose="020B0502040204020203" pitchFamily="34" charset="0"/>
              </a:rPr>
              <a:t>sai số² TB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5F5568-30D9-C826-1E25-9EFB6C701597}"/>
              </a:ext>
            </a:extLst>
          </p:cNvPr>
          <p:cNvSpPr txBox="1"/>
          <p:nvPr/>
        </p:nvSpPr>
        <p:spPr>
          <a:xfrm>
            <a:off x="3556000" y="2870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716B66"/>
                </a:solidFill>
                <a:latin typeface="Segoe UI" panose="020B0502040204020203" pitchFamily="34" charset="0"/>
              </a:rPr>
              <a:t>Phạt mạnh các dự đoán lệch nhiều.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59D947D-A16E-F792-27B9-8F44C9D25252}"/>
              </a:ext>
            </a:extLst>
          </p:cNvPr>
          <p:cNvSpPr/>
          <p:nvPr/>
        </p:nvSpPr>
        <p:spPr>
          <a:xfrm>
            <a:off x="6096000" y="1765300"/>
            <a:ext cx="2514600" cy="1841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2920B5-6D39-9785-9FA5-26FB1BCD0573}"/>
              </a:ext>
            </a:extLst>
          </p:cNvPr>
          <p:cNvSpPr txBox="1"/>
          <p:nvPr/>
        </p:nvSpPr>
        <p:spPr>
          <a:xfrm>
            <a:off x="6299200" y="19431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8C3B47"/>
                </a:solidFill>
                <a:latin typeface="Segoe UI" panose="020B0502040204020203" pitchFamily="34" charset="0"/>
              </a:rPr>
              <a:t>RMSE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4E36B8-D258-B719-9D0C-9107940529C5}"/>
              </a:ext>
            </a:extLst>
          </p:cNvPr>
          <p:cNvSpPr txBox="1"/>
          <p:nvPr/>
        </p:nvSpPr>
        <p:spPr>
          <a:xfrm>
            <a:off x="6299200" y="23368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500" b="1">
                <a:solidFill>
                  <a:srgbClr val="22252A"/>
                </a:solidFill>
                <a:latin typeface="Segoe UI" panose="020B0502040204020203" pitchFamily="34" charset="0"/>
              </a:rPr>
              <a:t>√MSE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7B6C41-B7CE-8278-2CC7-05AEB0E455EB}"/>
              </a:ext>
            </a:extLst>
          </p:cNvPr>
          <p:cNvSpPr txBox="1"/>
          <p:nvPr/>
        </p:nvSpPr>
        <p:spPr>
          <a:xfrm>
            <a:off x="6299200" y="2870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50">
                <a:solidFill>
                  <a:srgbClr val="716B66"/>
                </a:solidFill>
                <a:latin typeface="Segoe UI" panose="020B0502040204020203" pitchFamily="34" charset="0"/>
              </a:rPr>
              <a:t>Cùng đơn vị với quality; nhạy với sai số lớn.</a:t>
            </a:r>
            <a:endParaRPr lang="en-US" sz="125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C246288-EDCF-40CB-C490-98860700894D}"/>
              </a:ext>
            </a:extLst>
          </p:cNvPr>
          <p:cNvSpPr/>
          <p:nvPr/>
        </p:nvSpPr>
        <p:spPr>
          <a:xfrm>
            <a:off x="8839200" y="1765300"/>
            <a:ext cx="2514600" cy="18415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AD1AD9-2F78-DD38-AE04-C89610B1974C}"/>
              </a:ext>
            </a:extLst>
          </p:cNvPr>
          <p:cNvSpPr txBox="1"/>
          <p:nvPr/>
        </p:nvSpPr>
        <p:spPr>
          <a:xfrm>
            <a:off x="9042400" y="19431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8C3B47"/>
                </a:solidFill>
                <a:latin typeface="Segoe UI" panose="020B0502040204020203" pitchFamily="34" charset="0"/>
              </a:rPr>
              <a:t>R²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F368A3-5746-668B-912D-85A6F230E871}"/>
              </a:ext>
            </a:extLst>
          </p:cNvPr>
          <p:cNvSpPr txBox="1"/>
          <p:nvPr/>
        </p:nvSpPr>
        <p:spPr>
          <a:xfrm>
            <a:off x="9042400" y="23368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500" b="1">
                <a:solidFill>
                  <a:srgbClr val="22252A"/>
                </a:solidFill>
                <a:latin typeface="Segoe UI" panose="020B0502040204020203" pitchFamily="34" charset="0"/>
              </a:rPr>
              <a:t>0 → 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36AAD8-79C0-F951-3A2A-19CE021347D7}"/>
              </a:ext>
            </a:extLst>
          </p:cNvPr>
          <p:cNvSpPr txBox="1"/>
          <p:nvPr/>
        </p:nvSpPr>
        <p:spPr>
          <a:xfrm>
            <a:off x="9042400" y="2870200"/>
            <a:ext cx="2108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50">
                <a:solidFill>
                  <a:srgbClr val="716B66"/>
                </a:solidFill>
                <a:latin typeface="Segoe UI" panose="020B0502040204020203" pitchFamily="34" charset="0"/>
              </a:rPr>
              <a:t>Phần biến thiên của quality được mô hình giải thích.</a:t>
            </a:r>
            <a:endParaRPr lang="en-US" sz="125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F1DBC77-A309-4992-66CE-02258F473B77}"/>
              </a:ext>
            </a:extLst>
          </p:cNvPr>
          <p:cNvSpPr/>
          <p:nvPr/>
        </p:nvSpPr>
        <p:spPr>
          <a:xfrm>
            <a:off x="609600" y="4102100"/>
            <a:ext cx="10744200" cy="13335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9E996D-BDCD-BC08-37FD-39FBFF9F1121}"/>
              </a:ext>
            </a:extLst>
          </p:cNvPr>
          <p:cNvSpPr txBox="1"/>
          <p:nvPr/>
        </p:nvSpPr>
        <p:spPr>
          <a:xfrm>
            <a:off x="914400" y="4381500"/>
            <a:ext cx="127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CÁCH ĐỌC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20F79F-5BB6-A4CC-61E1-FBEB7630B800}"/>
              </a:ext>
            </a:extLst>
          </p:cNvPr>
          <p:cNvSpPr txBox="1"/>
          <p:nvPr/>
        </p:nvSpPr>
        <p:spPr>
          <a:xfrm>
            <a:off x="914400" y="4749800"/>
            <a:ext cx="952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22252A"/>
                </a:solidFill>
                <a:latin typeface="Segoe UI" panose="020B0502040204020203" pitchFamily="34" charset="0"/>
              </a:rPr>
              <a:t>MAE / MSE / RMSE càng thấp càng tốt   •   R² càng cao càng tốt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502DD0-1E36-D2F1-BA0A-88806B8CA3F2}"/>
              </a:ext>
            </a:extLst>
          </p:cNvPr>
          <p:cNvSpPr txBox="1"/>
          <p:nvPr/>
        </p:nvSpPr>
        <p:spPr>
          <a:xfrm>
            <a:off x="914400" y="5130800"/>
            <a:ext cx="812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50">
                <a:solidFill>
                  <a:srgbClr val="716B66"/>
                </a:solidFill>
                <a:latin typeface="Segoe UI" panose="020B0502040204020203" pitchFamily="34" charset="0"/>
              </a:rPr>
              <a:t>R² là hệ số xác định — không phải accuracy.</a:t>
            </a:r>
          </a:p>
        </p:txBody>
      </p:sp>
    </p:spTree>
    <p:extLst>
      <p:ext uri="{BB962C8B-B14F-4D97-AF65-F5344CB8AC3E}">
        <p14:creationId xmlns:p14="http://schemas.microsoft.com/office/powerpoint/2010/main" val="2369113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1BE612-C6FD-6EA4-2006-4E761DA30BC5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22252A"/>
                </a:solidFill>
                <a:latin typeface="Segoe UI" panose="020B0502040204020203" pitchFamily="34" charset="0"/>
              </a:rPr>
              <a:t>Kết quả so sánh 4 mô hình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1F9EE6-03D7-F4AC-53FA-A9D34142001A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TEST SET • TRƯỚC TINH CHỈNH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216D30F-9618-B93B-9A8F-23650136E90A}"/>
              </a:ext>
            </a:extLst>
          </p:cNvPr>
          <p:cNvCxnSpPr/>
          <p:nvPr/>
        </p:nvCxnSpPr>
        <p:spPr>
          <a:xfrm>
            <a:off x="609600" y="1257300"/>
            <a:ext cx="736600" cy="0"/>
          </a:xfrm>
          <a:prstGeom prst="straightConnector1">
            <a:avLst/>
          </a:prstGeom>
          <a:ln w="406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A502686-C0D4-84F9-4566-9A99F139C77E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C7ABCE-3B8A-3568-D802-0D68107B72D8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256F80-1D57-737F-3D55-0528A28D7C73}"/>
              </a:ext>
            </a:extLst>
          </p:cNvPr>
          <p:cNvSpPr/>
          <p:nvPr/>
        </p:nvSpPr>
        <p:spPr>
          <a:xfrm>
            <a:off x="609600" y="1765300"/>
            <a:ext cx="2159000" cy="508000"/>
          </a:xfrm>
          <a:prstGeom prst="rect">
            <a:avLst/>
          </a:prstGeom>
          <a:solidFill>
            <a:srgbClr val="8C3B47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BBEAD2-51BE-D9E6-F490-A5D350D00985}"/>
              </a:ext>
            </a:extLst>
          </p:cNvPr>
          <p:cNvSpPr txBox="1"/>
          <p:nvPr/>
        </p:nvSpPr>
        <p:spPr>
          <a:xfrm>
            <a:off x="673100" y="1790700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FFFFFF"/>
                </a:solidFill>
                <a:latin typeface="Segoe UI" panose="020B0502040204020203" pitchFamily="34" charset="0"/>
              </a:rPr>
              <a:t>Mô hình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C99D5C-D50F-0493-41C5-9B45B56D8F1B}"/>
              </a:ext>
            </a:extLst>
          </p:cNvPr>
          <p:cNvSpPr/>
          <p:nvPr/>
        </p:nvSpPr>
        <p:spPr>
          <a:xfrm>
            <a:off x="2768600" y="1765300"/>
            <a:ext cx="1143000" cy="508000"/>
          </a:xfrm>
          <a:prstGeom prst="rect">
            <a:avLst/>
          </a:prstGeom>
          <a:solidFill>
            <a:srgbClr val="8C3B47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01ABEC-E630-BB9F-77E1-28ADB36DF67B}"/>
              </a:ext>
            </a:extLst>
          </p:cNvPr>
          <p:cNvSpPr txBox="1"/>
          <p:nvPr/>
        </p:nvSpPr>
        <p:spPr>
          <a:xfrm>
            <a:off x="2832100" y="17907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FFFFFF"/>
                </a:solidFill>
                <a:latin typeface="Segoe UI" panose="020B0502040204020203" pitchFamily="34" charset="0"/>
              </a:rPr>
              <a:t>MAE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8193E3-C78F-8BF2-0726-0957DDA04382}"/>
              </a:ext>
            </a:extLst>
          </p:cNvPr>
          <p:cNvSpPr/>
          <p:nvPr/>
        </p:nvSpPr>
        <p:spPr>
          <a:xfrm>
            <a:off x="3911600" y="1765300"/>
            <a:ext cx="1143000" cy="508000"/>
          </a:xfrm>
          <a:prstGeom prst="rect">
            <a:avLst/>
          </a:prstGeom>
          <a:solidFill>
            <a:srgbClr val="8C3B47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6F7EEC-A9F6-040B-B256-55B63FDAE651}"/>
              </a:ext>
            </a:extLst>
          </p:cNvPr>
          <p:cNvSpPr txBox="1"/>
          <p:nvPr/>
        </p:nvSpPr>
        <p:spPr>
          <a:xfrm>
            <a:off x="3975100" y="17907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FFFFFF"/>
                </a:solidFill>
                <a:latin typeface="Segoe UI" panose="020B0502040204020203" pitchFamily="34" charset="0"/>
              </a:rPr>
              <a:t>MSE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FE64A6-9C1E-EA7B-73A2-B72FE3326B12}"/>
              </a:ext>
            </a:extLst>
          </p:cNvPr>
          <p:cNvSpPr/>
          <p:nvPr/>
        </p:nvSpPr>
        <p:spPr>
          <a:xfrm>
            <a:off x="5054600" y="1765300"/>
            <a:ext cx="1143000" cy="508000"/>
          </a:xfrm>
          <a:prstGeom prst="rect">
            <a:avLst/>
          </a:prstGeom>
          <a:solidFill>
            <a:srgbClr val="8C3B47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BFB7AE-703F-B30B-057F-C913656E0755}"/>
              </a:ext>
            </a:extLst>
          </p:cNvPr>
          <p:cNvSpPr txBox="1"/>
          <p:nvPr/>
        </p:nvSpPr>
        <p:spPr>
          <a:xfrm>
            <a:off x="5118100" y="17907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FFFFFF"/>
                </a:solidFill>
                <a:latin typeface="Segoe UI" panose="020B0502040204020203" pitchFamily="34" charset="0"/>
              </a:rPr>
              <a:t>RMSE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6B1720-1F89-0C86-43C1-611B0213D65B}"/>
              </a:ext>
            </a:extLst>
          </p:cNvPr>
          <p:cNvSpPr/>
          <p:nvPr/>
        </p:nvSpPr>
        <p:spPr>
          <a:xfrm>
            <a:off x="6197600" y="1765300"/>
            <a:ext cx="1143000" cy="508000"/>
          </a:xfrm>
          <a:prstGeom prst="rect">
            <a:avLst/>
          </a:prstGeom>
          <a:solidFill>
            <a:srgbClr val="8C3B47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7D276B-B984-358B-007D-F2CA659AAAC0}"/>
              </a:ext>
            </a:extLst>
          </p:cNvPr>
          <p:cNvSpPr txBox="1"/>
          <p:nvPr/>
        </p:nvSpPr>
        <p:spPr>
          <a:xfrm>
            <a:off x="6261100" y="17907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FFFFFF"/>
                </a:solidFill>
                <a:latin typeface="Segoe UI" panose="020B0502040204020203" pitchFamily="34" charset="0"/>
              </a:rPr>
              <a:t>R²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1F28EF-B03A-CEFE-6C40-2104E3E4E335}"/>
              </a:ext>
            </a:extLst>
          </p:cNvPr>
          <p:cNvSpPr/>
          <p:nvPr/>
        </p:nvSpPr>
        <p:spPr>
          <a:xfrm>
            <a:off x="609600" y="2273300"/>
            <a:ext cx="2159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039D7E-992F-09A7-F754-5AA3823A139E}"/>
              </a:ext>
            </a:extLst>
          </p:cNvPr>
          <p:cNvSpPr txBox="1"/>
          <p:nvPr/>
        </p:nvSpPr>
        <p:spPr>
          <a:xfrm>
            <a:off x="673100" y="2298700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Linear Regression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3A91531-1B6C-615E-E2F0-18A2E442E9F1}"/>
              </a:ext>
            </a:extLst>
          </p:cNvPr>
          <p:cNvSpPr/>
          <p:nvPr/>
        </p:nvSpPr>
        <p:spPr>
          <a:xfrm>
            <a:off x="2768600" y="2273300"/>
            <a:ext cx="1143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0F5B12-0BA2-B540-70CD-C286183BA8C7}"/>
              </a:ext>
            </a:extLst>
          </p:cNvPr>
          <p:cNvSpPr txBox="1"/>
          <p:nvPr/>
        </p:nvSpPr>
        <p:spPr>
          <a:xfrm>
            <a:off x="2832100" y="22987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>
                <a:solidFill>
                  <a:srgbClr val="22252A"/>
                </a:solidFill>
                <a:latin typeface="Segoe UI" panose="020B0502040204020203" pitchFamily="34" charset="0"/>
              </a:rPr>
              <a:t>0,5041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7A3A84-C9AF-42A3-0E5F-FAECC8A1B4DC}"/>
              </a:ext>
            </a:extLst>
          </p:cNvPr>
          <p:cNvSpPr/>
          <p:nvPr/>
        </p:nvSpPr>
        <p:spPr>
          <a:xfrm>
            <a:off x="3911600" y="2273300"/>
            <a:ext cx="1143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5DBA76-E80D-B5DE-C9D5-A1081331E8ED}"/>
              </a:ext>
            </a:extLst>
          </p:cNvPr>
          <p:cNvSpPr txBox="1"/>
          <p:nvPr/>
        </p:nvSpPr>
        <p:spPr>
          <a:xfrm>
            <a:off x="3975100" y="22987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>
                <a:solidFill>
                  <a:srgbClr val="22252A"/>
                </a:solidFill>
                <a:latin typeface="Segoe UI" panose="020B0502040204020203" pitchFamily="34" charset="0"/>
              </a:rPr>
              <a:t>0,4310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4B731F-AD16-FF61-8D88-2612964D442F}"/>
              </a:ext>
            </a:extLst>
          </p:cNvPr>
          <p:cNvSpPr/>
          <p:nvPr/>
        </p:nvSpPr>
        <p:spPr>
          <a:xfrm>
            <a:off x="5054600" y="2273300"/>
            <a:ext cx="1143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251333-EB21-772D-DD14-7F8A89D77E9E}"/>
              </a:ext>
            </a:extLst>
          </p:cNvPr>
          <p:cNvSpPr txBox="1"/>
          <p:nvPr/>
        </p:nvSpPr>
        <p:spPr>
          <a:xfrm>
            <a:off x="5118100" y="22987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>
                <a:solidFill>
                  <a:srgbClr val="22252A"/>
                </a:solidFill>
                <a:latin typeface="Segoe UI" panose="020B0502040204020203" pitchFamily="34" charset="0"/>
              </a:rPr>
              <a:t>0,6565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0BEF320-5DDE-B017-252E-F9673F9B1A83}"/>
              </a:ext>
            </a:extLst>
          </p:cNvPr>
          <p:cNvSpPr/>
          <p:nvPr/>
        </p:nvSpPr>
        <p:spPr>
          <a:xfrm>
            <a:off x="6197600" y="2273300"/>
            <a:ext cx="1143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AA5547-B9F4-160F-F40C-1AF9B8605590}"/>
              </a:ext>
            </a:extLst>
          </p:cNvPr>
          <p:cNvSpPr txBox="1"/>
          <p:nvPr/>
        </p:nvSpPr>
        <p:spPr>
          <a:xfrm>
            <a:off x="6261100" y="22987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>
                <a:solidFill>
                  <a:srgbClr val="22252A"/>
                </a:solidFill>
                <a:latin typeface="Segoe UI" panose="020B0502040204020203" pitchFamily="34" charset="0"/>
              </a:rPr>
              <a:t>0,3915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7C3BB9-A947-13D8-9536-193BA54A0296}"/>
              </a:ext>
            </a:extLst>
          </p:cNvPr>
          <p:cNvSpPr/>
          <p:nvPr/>
        </p:nvSpPr>
        <p:spPr>
          <a:xfrm>
            <a:off x="609600" y="2933700"/>
            <a:ext cx="2159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2C3430-BCA5-69EA-99E2-C6746CFD155C}"/>
              </a:ext>
            </a:extLst>
          </p:cNvPr>
          <p:cNvSpPr txBox="1"/>
          <p:nvPr/>
        </p:nvSpPr>
        <p:spPr>
          <a:xfrm>
            <a:off x="673100" y="2959100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Ridge Regression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B988AA-0CB0-087B-B24E-A2903023190C}"/>
              </a:ext>
            </a:extLst>
          </p:cNvPr>
          <p:cNvSpPr/>
          <p:nvPr/>
        </p:nvSpPr>
        <p:spPr>
          <a:xfrm>
            <a:off x="2768600" y="2933700"/>
            <a:ext cx="1143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F0C69E-5EF8-5509-3396-A6DC6F370708}"/>
              </a:ext>
            </a:extLst>
          </p:cNvPr>
          <p:cNvSpPr txBox="1"/>
          <p:nvPr/>
        </p:nvSpPr>
        <p:spPr>
          <a:xfrm>
            <a:off x="2832100" y="29591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>
                <a:solidFill>
                  <a:srgbClr val="22252A"/>
                </a:solidFill>
                <a:latin typeface="Segoe UI" panose="020B0502040204020203" pitchFamily="34" charset="0"/>
              </a:rPr>
              <a:t>0,5041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4DEAE7-C49B-2F8F-E999-2058E28C5FC4}"/>
              </a:ext>
            </a:extLst>
          </p:cNvPr>
          <p:cNvSpPr/>
          <p:nvPr/>
        </p:nvSpPr>
        <p:spPr>
          <a:xfrm>
            <a:off x="3911600" y="2933700"/>
            <a:ext cx="1143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64387B-2C98-C26B-75F3-BA5B7E599EEF}"/>
              </a:ext>
            </a:extLst>
          </p:cNvPr>
          <p:cNvSpPr txBox="1"/>
          <p:nvPr/>
        </p:nvSpPr>
        <p:spPr>
          <a:xfrm>
            <a:off x="3975100" y="29591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>
                <a:solidFill>
                  <a:srgbClr val="22252A"/>
                </a:solidFill>
                <a:latin typeface="Segoe UI" panose="020B0502040204020203" pitchFamily="34" charset="0"/>
              </a:rPr>
              <a:t>0,4308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D3AC48C-01BD-4774-5297-AF4085A5D4D5}"/>
              </a:ext>
            </a:extLst>
          </p:cNvPr>
          <p:cNvSpPr/>
          <p:nvPr/>
        </p:nvSpPr>
        <p:spPr>
          <a:xfrm>
            <a:off x="5054600" y="2933700"/>
            <a:ext cx="1143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BA8E38-059D-51C1-C147-72681881C066}"/>
              </a:ext>
            </a:extLst>
          </p:cNvPr>
          <p:cNvSpPr txBox="1"/>
          <p:nvPr/>
        </p:nvSpPr>
        <p:spPr>
          <a:xfrm>
            <a:off x="5118100" y="29591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>
                <a:solidFill>
                  <a:srgbClr val="22252A"/>
                </a:solidFill>
                <a:latin typeface="Segoe UI" panose="020B0502040204020203" pitchFamily="34" charset="0"/>
              </a:rPr>
              <a:t>0,6564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AE1989F-A0F1-5F2F-2829-BAB4127AC047}"/>
              </a:ext>
            </a:extLst>
          </p:cNvPr>
          <p:cNvSpPr/>
          <p:nvPr/>
        </p:nvSpPr>
        <p:spPr>
          <a:xfrm>
            <a:off x="6197600" y="2933700"/>
            <a:ext cx="1143000" cy="66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756F6E-2611-0EE1-45BA-6C3C4E04D3F2}"/>
              </a:ext>
            </a:extLst>
          </p:cNvPr>
          <p:cNvSpPr txBox="1"/>
          <p:nvPr/>
        </p:nvSpPr>
        <p:spPr>
          <a:xfrm>
            <a:off x="6261100" y="29591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>
                <a:solidFill>
                  <a:srgbClr val="22252A"/>
                </a:solidFill>
                <a:latin typeface="Segoe UI" panose="020B0502040204020203" pitchFamily="34" charset="0"/>
              </a:rPr>
              <a:t>0,3918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A58D1F3-5E11-2658-27C8-80B146D0404C}"/>
              </a:ext>
            </a:extLst>
          </p:cNvPr>
          <p:cNvSpPr/>
          <p:nvPr/>
        </p:nvSpPr>
        <p:spPr>
          <a:xfrm>
            <a:off x="609600" y="3594100"/>
            <a:ext cx="2159000" cy="660400"/>
          </a:xfrm>
          <a:prstGeom prst="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5DD8512-798C-7BBC-2938-F23A6422A235}"/>
              </a:ext>
            </a:extLst>
          </p:cNvPr>
          <p:cNvSpPr txBox="1"/>
          <p:nvPr/>
        </p:nvSpPr>
        <p:spPr>
          <a:xfrm>
            <a:off x="673100" y="3619500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Random Forest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E535305-4303-E830-750D-ACD6DA49B883}"/>
              </a:ext>
            </a:extLst>
          </p:cNvPr>
          <p:cNvSpPr/>
          <p:nvPr/>
        </p:nvSpPr>
        <p:spPr>
          <a:xfrm>
            <a:off x="2768600" y="3594100"/>
            <a:ext cx="1143000" cy="660400"/>
          </a:xfrm>
          <a:prstGeom prst="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6A01DB3-9D00-3D8C-5BC2-966E1929D8DC}"/>
              </a:ext>
            </a:extLst>
          </p:cNvPr>
          <p:cNvSpPr txBox="1"/>
          <p:nvPr/>
        </p:nvSpPr>
        <p:spPr>
          <a:xfrm>
            <a:off x="2832100" y="36195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0,4682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7F872C7-2A14-979E-7B62-30E7C7894219}"/>
              </a:ext>
            </a:extLst>
          </p:cNvPr>
          <p:cNvSpPr/>
          <p:nvPr/>
        </p:nvSpPr>
        <p:spPr>
          <a:xfrm>
            <a:off x="3911600" y="3594100"/>
            <a:ext cx="1143000" cy="660400"/>
          </a:xfrm>
          <a:prstGeom prst="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B82A91-FE8A-4296-68D7-51C5E6D0AD98}"/>
              </a:ext>
            </a:extLst>
          </p:cNvPr>
          <p:cNvSpPr txBox="1"/>
          <p:nvPr/>
        </p:nvSpPr>
        <p:spPr>
          <a:xfrm>
            <a:off x="3975100" y="36195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0,3839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D964F73-0632-8213-86FC-23F23CF8D925}"/>
              </a:ext>
            </a:extLst>
          </p:cNvPr>
          <p:cNvSpPr/>
          <p:nvPr/>
        </p:nvSpPr>
        <p:spPr>
          <a:xfrm>
            <a:off x="5054600" y="3594100"/>
            <a:ext cx="1143000" cy="660400"/>
          </a:xfrm>
          <a:prstGeom prst="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525B18-BBDF-A59C-6E67-79CDC0D3A912}"/>
              </a:ext>
            </a:extLst>
          </p:cNvPr>
          <p:cNvSpPr txBox="1"/>
          <p:nvPr/>
        </p:nvSpPr>
        <p:spPr>
          <a:xfrm>
            <a:off x="5118100" y="36195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0,6196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2E7104F-8F0C-2D23-8CED-05179910DFCB}"/>
              </a:ext>
            </a:extLst>
          </p:cNvPr>
          <p:cNvSpPr/>
          <p:nvPr/>
        </p:nvSpPr>
        <p:spPr>
          <a:xfrm>
            <a:off x="6197600" y="3594100"/>
            <a:ext cx="1143000" cy="660400"/>
          </a:xfrm>
          <a:prstGeom prst="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455350A-F577-638E-412F-2FD22FEA3D26}"/>
              </a:ext>
            </a:extLst>
          </p:cNvPr>
          <p:cNvSpPr txBox="1"/>
          <p:nvPr/>
        </p:nvSpPr>
        <p:spPr>
          <a:xfrm>
            <a:off x="6261100" y="36195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0,4580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F6A-2DE7-E3EB-A9BF-F7C304233853}"/>
              </a:ext>
            </a:extLst>
          </p:cNvPr>
          <p:cNvSpPr/>
          <p:nvPr/>
        </p:nvSpPr>
        <p:spPr>
          <a:xfrm>
            <a:off x="609600" y="4254500"/>
            <a:ext cx="2159000" cy="660400"/>
          </a:xfrm>
          <a:prstGeom prst="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EAB8F5-A56C-5B78-4BDE-3B485B0C80E5}"/>
              </a:ext>
            </a:extLst>
          </p:cNvPr>
          <p:cNvSpPr txBox="1"/>
          <p:nvPr/>
        </p:nvSpPr>
        <p:spPr>
          <a:xfrm>
            <a:off x="673100" y="4279900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Gradient Boosting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9F2AA21-8C82-A95C-C41C-7306E1EF65FE}"/>
              </a:ext>
            </a:extLst>
          </p:cNvPr>
          <p:cNvSpPr/>
          <p:nvPr/>
        </p:nvSpPr>
        <p:spPr>
          <a:xfrm>
            <a:off x="2768600" y="4254500"/>
            <a:ext cx="1143000" cy="660400"/>
          </a:xfrm>
          <a:prstGeom prst="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803ECB-B682-A3F3-658C-0A74DC29FE35}"/>
              </a:ext>
            </a:extLst>
          </p:cNvPr>
          <p:cNvSpPr txBox="1"/>
          <p:nvPr/>
        </p:nvSpPr>
        <p:spPr>
          <a:xfrm>
            <a:off x="2832100" y="42799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0,4791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43D5161-9FC2-D2C4-1744-8E85B4382951}"/>
              </a:ext>
            </a:extLst>
          </p:cNvPr>
          <p:cNvSpPr/>
          <p:nvPr/>
        </p:nvSpPr>
        <p:spPr>
          <a:xfrm>
            <a:off x="3911600" y="4254500"/>
            <a:ext cx="1143000" cy="660400"/>
          </a:xfrm>
          <a:prstGeom prst="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5D8B9F-7A54-1B5E-7A02-14913C408EE4}"/>
              </a:ext>
            </a:extLst>
          </p:cNvPr>
          <p:cNvSpPr txBox="1"/>
          <p:nvPr/>
        </p:nvSpPr>
        <p:spPr>
          <a:xfrm>
            <a:off x="3975100" y="42799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0,3835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24F8022-D970-B82B-7417-1943B9C2ACD8}"/>
              </a:ext>
            </a:extLst>
          </p:cNvPr>
          <p:cNvSpPr/>
          <p:nvPr/>
        </p:nvSpPr>
        <p:spPr>
          <a:xfrm>
            <a:off x="5054600" y="4254500"/>
            <a:ext cx="1143000" cy="660400"/>
          </a:xfrm>
          <a:prstGeom prst="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BD9CED1-370E-7091-4A8C-AB1ECC6C5229}"/>
              </a:ext>
            </a:extLst>
          </p:cNvPr>
          <p:cNvSpPr txBox="1"/>
          <p:nvPr/>
        </p:nvSpPr>
        <p:spPr>
          <a:xfrm>
            <a:off x="5118100" y="42799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0,6193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7044D7D-DBC1-D9E3-CDA3-1FE671240131}"/>
              </a:ext>
            </a:extLst>
          </p:cNvPr>
          <p:cNvSpPr/>
          <p:nvPr/>
        </p:nvSpPr>
        <p:spPr>
          <a:xfrm>
            <a:off x="6197600" y="4254500"/>
            <a:ext cx="1143000" cy="660400"/>
          </a:xfrm>
          <a:prstGeom prst="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C298ABE-EE18-4931-F9C4-AD70AC277C87}"/>
              </a:ext>
            </a:extLst>
          </p:cNvPr>
          <p:cNvSpPr txBox="1"/>
          <p:nvPr/>
        </p:nvSpPr>
        <p:spPr>
          <a:xfrm>
            <a:off x="6261100" y="4279900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150" b="1">
                <a:solidFill>
                  <a:srgbClr val="22252A"/>
                </a:solidFill>
                <a:latin typeface="Segoe UI" panose="020B0502040204020203" pitchFamily="34" charset="0"/>
              </a:rPr>
              <a:t>0,4586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8FD3F8A4-679D-9F59-8408-1F4FDD868E7A}"/>
              </a:ext>
            </a:extLst>
          </p:cNvPr>
          <p:cNvSpPr/>
          <p:nvPr/>
        </p:nvSpPr>
        <p:spPr>
          <a:xfrm>
            <a:off x="7848600" y="1765300"/>
            <a:ext cx="3733800" cy="3149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02513F3-937F-EC0B-655D-0C4A8F4D2A79}"/>
              </a:ext>
            </a:extLst>
          </p:cNvPr>
          <p:cNvSpPr txBox="1"/>
          <p:nvPr/>
        </p:nvSpPr>
        <p:spPr>
          <a:xfrm>
            <a:off x="8102600" y="2067699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en-US" sz="1000" b="1" dirty="0">
              <a:solidFill>
                <a:srgbClr val="8C3B47"/>
              </a:solidFill>
              <a:latin typeface="Segoe UI" panose="020B0502040204020203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D96145D-3A61-8B7A-3653-D03C034A025D}"/>
              </a:ext>
            </a:extLst>
          </p:cNvPr>
          <p:cNvSpPr txBox="1"/>
          <p:nvPr/>
        </p:nvSpPr>
        <p:spPr>
          <a:xfrm>
            <a:off x="8178800" y="24765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30">
                <a:solidFill>
                  <a:srgbClr val="22252A"/>
                </a:solidFill>
                <a:latin typeface="Segoe UI" panose="020B0502040204020203" pitchFamily="34" charset="0"/>
              </a:rPr>
              <a:t>•  Linear và Ridge gần như tương đương, cho thấy quan hệ tuyến tính chưa đủ.</a:t>
            </a:r>
            <a:endParaRPr lang="en-US" sz="123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6261AB-9DB8-0D4D-AA48-53A3A2E6420A}"/>
              </a:ext>
            </a:extLst>
          </p:cNvPr>
          <p:cNvSpPr txBox="1"/>
          <p:nvPr/>
        </p:nvSpPr>
        <p:spPr>
          <a:xfrm>
            <a:off x="8178800" y="30988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30">
                <a:solidFill>
                  <a:srgbClr val="22252A"/>
                </a:solidFill>
                <a:latin typeface="Segoe UI" panose="020B0502040204020203" pitchFamily="34" charset="0"/>
              </a:rPr>
              <a:t>•  Hai mô hình cây giảm RMSE từ khoảng 0,656 xuống khoảng 0,619.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0DF2DC-14E2-851F-54F4-C5768C96B5C2}"/>
              </a:ext>
            </a:extLst>
          </p:cNvPr>
          <p:cNvSpPr txBox="1"/>
          <p:nvPr/>
        </p:nvSpPr>
        <p:spPr>
          <a:xfrm>
            <a:off x="8178800" y="37211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30">
                <a:solidFill>
                  <a:srgbClr val="22252A"/>
                </a:solidFill>
                <a:latin typeface="Segoe UI" panose="020B0502040204020203" pitchFamily="34" charset="0"/>
              </a:rPr>
              <a:t>•  Random Forest tốt nhất về MAE; Gradient Boosting nhỉnh nhẹ về RMSE và R² trước tuning.</a:t>
            </a:r>
            <a:endParaRPr lang="en-US" sz="123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C811BC4-1C40-B1D1-D014-5E724EE79B3E}"/>
              </a:ext>
            </a:extLst>
          </p:cNvPr>
          <p:cNvSpPr txBox="1"/>
          <p:nvPr/>
        </p:nvSpPr>
        <p:spPr>
          <a:xfrm>
            <a:off x="8178800" y="4343400"/>
            <a:ext cx="2946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30">
                <a:solidFill>
                  <a:srgbClr val="22252A"/>
                </a:solidFill>
                <a:latin typeface="Segoe UI" panose="020B0502040204020203" pitchFamily="34" charset="0"/>
              </a:rPr>
              <a:t>•  Mô hình cuối được quyết định sau tuning và cân nhắc khả năng triển khai.</a:t>
            </a:r>
            <a:endParaRPr lang="en-US" sz="123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4AF41F-7476-8685-F5FE-DCC8633C07A0}"/>
              </a:ext>
            </a:extLst>
          </p:cNvPr>
          <p:cNvSpPr txBox="1"/>
          <p:nvPr/>
        </p:nvSpPr>
        <p:spPr>
          <a:xfrm>
            <a:off x="609600" y="5626100"/>
            <a:ext cx="914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50">
                <a:solidFill>
                  <a:srgbClr val="716B66"/>
                </a:solidFill>
                <a:latin typeface="Segoe UI" panose="020B0502040204020203" pitchFamily="34" charset="0"/>
              </a:rPr>
              <a:t>Nguồn: kết quả notebook huấn luyện, cùng tập test 272 mẫu.</a:t>
            </a:r>
          </a:p>
        </p:txBody>
      </p:sp>
    </p:spTree>
    <p:extLst>
      <p:ext uri="{BB962C8B-B14F-4D97-AF65-F5344CB8AC3E}">
        <p14:creationId xmlns:p14="http://schemas.microsoft.com/office/powerpoint/2010/main" val="1838618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C8FD42-E0C0-899B-9AF9-F37B160326BB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2800" b="1">
                <a:solidFill>
                  <a:srgbClr val="22252A"/>
                </a:solidFill>
                <a:latin typeface="Segoe UI" panose="020B0502040204020203" pitchFamily="34" charset="0"/>
              </a:rPr>
              <a:t>Mô hình được lựa chọn</a:t>
            </a:r>
            <a:endParaRPr lang="en-US" sz="2800" b="1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7579C6-44B6-B25C-E9F3-5E4959AF6724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FINAL MODEL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2FBB6AC-C204-9129-9ADE-A8E7FF2B2DBC}"/>
              </a:ext>
            </a:extLst>
          </p:cNvPr>
          <p:cNvCxnSpPr/>
          <p:nvPr/>
        </p:nvCxnSpPr>
        <p:spPr>
          <a:xfrm>
            <a:off x="609600" y="1257300"/>
            <a:ext cx="736600" cy="0"/>
          </a:xfrm>
          <a:prstGeom prst="straightConnector1">
            <a:avLst/>
          </a:prstGeom>
          <a:ln w="406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8AA4103-405E-F565-0AA4-38169C5FA670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15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3CC2BA-4D6B-1822-6411-9C94EA1EDAB3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AE6C1E5-4167-54D4-61A1-BF76887D83E7}"/>
              </a:ext>
            </a:extLst>
          </p:cNvPr>
          <p:cNvSpPr/>
          <p:nvPr/>
        </p:nvSpPr>
        <p:spPr>
          <a:xfrm>
            <a:off x="609600" y="1676400"/>
            <a:ext cx="4495800" cy="4114800"/>
          </a:xfrm>
          <a:prstGeom prst="roundRect">
            <a:avLst/>
          </a:prstGeom>
          <a:solidFill>
            <a:srgbClr val="8C3B47"/>
          </a:solidFill>
          <a:ln w="9525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D636-381F-32ED-35E1-61374FE0C4DE}"/>
              </a:ext>
            </a:extLst>
          </p:cNvPr>
          <p:cNvSpPr txBox="1"/>
          <p:nvPr/>
        </p:nvSpPr>
        <p:spPr>
          <a:xfrm>
            <a:off x="977900" y="2095500"/>
            <a:ext cx="3759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FFFFFF"/>
                </a:solidFill>
                <a:latin typeface="Segoe UI" panose="020B0502040204020203" pitchFamily="34" charset="0"/>
              </a:rPr>
              <a:t>RANDOM FOREST
REGRESSOR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4CE0E2-20BA-8387-B94C-F229424E1013}"/>
              </a:ext>
            </a:extLst>
          </p:cNvPr>
          <p:cNvSpPr txBox="1"/>
          <p:nvPr/>
        </p:nvSpPr>
        <p:spPr>
          <a:xfrm>
            <a:off x="990600" y="3251200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Segoe UI" panose="020B0502040204020203" pitchFamily="34" charset="0"/>
              </a:rPr>
              <a:t>Tuned • version 1.0.0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D3D85FF-D0F4-D249-353E-B70BE234AE54}"/>
              </a:ext>
            </a:extLst>
          </p:cNvPr>
          <p:cNvCxnSpPr/>
          <p:nvPr/>
        </p:nvCxnSpPr>
        <p:spPr>
          <a:xfrm>
            <a:off x="990600" y="3810000"/>
            <a:ext cx="3657600" cy="0"/>
          </a:xfrm>
          <a:prstGeom prst="straightConnector1">
            <a:avLst/>
          </a:prstGeom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5C0F7E0-FCAD-2E7D-6ADA-68A907C479A0}"/>
              </a:ext>
            </a:extLst>
          </p:cNvPr>
          <p:cNvSpPr txBox="1"/>
          <p:nvPr/>
        </p:nvSpPr>
        <p:spPr>
          <a:xfrm>
            <a:off x="990600" y="4089400"/>
            <a:ext cx="1143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FFFFFF"/>
                </a:solidFill>
                <a:latin typeface="Segoe UI" panose="020B0502040204020203" pitchFamily="34" charset="0"/>
              </a:rPr>
              <a:t>200 cây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B95773-753A-B926-4DE5-47116D822C36}"/>
              </a:ext>
            </a:extLst>
          </p:cNvPr>
          <p:cNvSpPr txBox="1"/>
          <p:nvPr/>
        </p:nvSpPr>
        <p:spPr>
          <a:xfrm>
            <a:off x="990600" y="4508500"/>
            <a:ext cx="266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FFFFFF"/>
                </a:solidFill>
                <a:latin typeface="Segoe UI" panose="020B0502040204020203" pitchFamily="34" charset="0"/>
              </a:rPr>
              <a:t>max_depth = 10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4638A1-8B6E-F769-B677-A6F4E3B0A3D4}"/>
              </a:ext>
            </a:extLst>
          </p:cNvPr>
          <p:cNvSpPr txBox="1"/>
          <p:nvPr/>
        </p:nvSpPr>
        <p:spPr>
          <a:xfrm>
            <a:off x="990600" y="4876800"/>
            <a:ext cx="292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FFFFFF"/>
                </a:solidFill>
                <a:latin typeface="Segoe UI" panose="020B0502040204020203" pitchFamily="34" charset="0"/>
              </a:rPr>
              <a:t>min_samples_split =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C36D7E-E1C7-E5F9-E2CE-55473CD2E6F2}"/>
              </a:ext>
            </a:extLst>
          </p:cNvPr>
          <p:cNvSpPr txBox="1"/>
          <p:nvPr/>
        </p:nvSpPr>
        <p:spPr>
          <a:xfrm>
            <a:off x="990600" y="5245100"/>
            <a:ext cx="266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FFFFFF"/>
                </a:solidFill>
                <a:latin typeface="Segoe UI" panose="020B0502040204020203" pitchFamily="34" charset="0"/>
              </a:rPr>
              <a:t>random_state = 42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4954C04-B2C4-35E1-34A2-FE07F5F4BC55}"/>
              </a:ext>
            </a:extLst>
          </p:cNvPr>
          <p:cNvSpPr/>
          <p:nvPr/>
        </p:nvSpPr>
        <p:spPr>
          <a:xfrm>
            <a:off x="5511800" y="1676400"/>
            <a:ext cx="18034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5D8209-B2EC-9EBC-CE3B-4B2449B4A527}"/>
              </a:ext>
            </a:extLst>
          </p:cNvPr>
          <p:cNvSpPr txBox="1"/>
          <p:nvPr/>
        </p:nvSpPr>
        <p:spPr>
          <a:xfrm>
            <a:off x="5715000" y="18542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8C3B47"/>
                </a:solidFill>
                <a:latin typeface="Segoe UI" panose="020B0502040204020203" pitchFamily="34" charset="0"/>
              </a:rPr>
              <a:t>MAE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6094FB-E757-1779-63FD-B577F36434FF}"/>
              </a:ext>
            </a:extLst>
          </p:cNvPr>
          <p:cNvSpPr txBox="1"/>
          <p:nvPr/>
        </p:nvSpPr>
        <p:spPr>
          <a:xfrm>
            <a:off x="5715000" y="22479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500" b="1">
                <a:solidFill>
                  <a:srgbClr val="22252A"/>
                </a:solidFill>
                <a:latin typeface="Segoe UI" panose="020B0502040204020203" pitchFamily="34" charset="0"/>
              </a:rPr>
              <a:t>0,4689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85C5D5-C7B3-9587-3038-F2EEE85F09C5}"/>
              </a:ext>
            </a:extLst>
          </p:cNvPr>
          <p:cNvSpPr txBox="1"/>
          <p:nvPr/>
        </p:nvSpPr>
        <p:spPr>
          <a:xfrm>
            <a:off x="5715000" y="27813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716B66"/>
                </a:solidFill>
                <a:latin typeface="Segoe UI" panose="020B0502040204020203" pitchFamily="34" charset="0"/>
              </a:rPr>
              <a:t>Sai số tuyệt đối trung bình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D5F87F9-8D6E-1CDA-0D05-D8CF366E10F0}"/>
              </a:ext>
            </a:extLst>
          </p:cNvPr>
          <p:cNvSpPr/>
          <p:nvPr/>
        </p:nvSpPr>
        <p:spPr>
          <a:xfrm>
            <a:off x="7518400" y="1676400"/>
            <a:ext cx="18034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F89218-2681-9ADE-FC9B-1FD3E3E5455B}"/>
              </a:ext>
            </a:extLst>
          </p:cNvPr>
          <p:cNvSpPr txBox="1"/>
          <p:nvPr/>
        </p:nvSpPr>
        <p:spPr>
          <a:xfrm>
            <a:off x="7721600" y="18542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8C3B47"/>
                </a:solidFill>
                <a:latin typeface="Segoe UI" panose="020B0502040204020203" pitchFamily="34" charset="0"/>
              </a:rPr>
              <a:t>MSE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538685-80B8-DC64-326A-DD80E6D942E6}"/>
              </a:ext>
            </a:extLst>
          </p:cNvPr>
          <p:cNvSpPr txBox="1"/>
          <p:nvPr/>
        </p:nvSpPr>
        <p:spPr>
          <a:xfrm>
            <a:off x="7721600" y="22479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500" b="1">
                <a:solidFill>
                  <a:srgbClr val="22252A"/>
                </a:solidFill>
                <a:latin typeface="Segoe UI" panose="020B0502040204020203" pitchFamily="34" charset="0"/>
              </a:rPr>
              <a:t>0,3795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38936E-0AD3-3118-1433-323E4B19F0C6}"/>
              </a:ext>
            </a:extLst>
          </p:cNvPr>
          <p:cNvSpPr txBox="1"/>
          <p:nvPr/>
        </p:nvSpPr>
        <p:spPr>
          <a:xfrm>
            <a:off x="7721600" y="27813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50">
                <a:solidFill>
                  <a:srgbClr val="716B66"/>
                </a:solidFill>
                <a:latin typeface="Segoe UI" panose="020B0502040204020203" pitchFamily="34" charset="0"/>
              </a:rPr>
              <a:t>Sai số bình phương trung bình</a:t>
            </a:r>
            <a:endParaRPr lang="en-US" sz="125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5EC08A8-22F2-A253-EDF3-4936B33EC781}"/>
              </a:ext>
            </a:extLst>
          </p:cNvPr>
          <p:cNvSpPr/>
          <p:nvPr/>
        </p:nvSpPr>
        <p:spPr>
          <a:xfrm>
            <a:off x="9525000" y="1676400"/>
            <a:ext cx="1803400" cy="1676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FFECB1-1702-D709-FC9C-E64E953A684D}"/>
              </a:ext>
            </a:extLst>
          </p:cNvPr>
          <p:cNvSpPr txBox="1"/>
          <p:nvPr/>
        </p:nvSpPr>
        <p:spPr>
          <a:xfrm>
            <a:off x="9728200" y="18542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8C3B47"/>
                </a:solidFill>
                <a:latin typeface="Segoe UI" panose="020B0502040204020203" pitchFamily="34" charset="0"/>
              </a:rPr>
              <a:t>RMSE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62D90A-A7D7-855A-7CBC-0E75DF10EDD4}"/>
              </a:ext>
            </a:extLst>
          </p:cNvPr>
          <p:cNvSpPr txBox="1"/>
          <p:nvPr/>
        </p:nvSpPr>
        <p:spPr>
          <a:xfrm>
            <a:off x="9728200" y="22479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500" b="1">
                <a:solidFill>
                  <a:srgbClr val="22252A"/>
                </a:solidFill>
                <a:latin typeface="Segoe UI" panose="020B0502040204020203" pitchFamily="34" charset="0"/>
              </a:rPr>
              <a:t>0,6160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C85A0B-F377-78AA-919D-EE90886FF0E0}"/>
              </a:ext>
            </a:extLst>
          </p:cNvPr>
          <p:cNvSpPr txBox="1"/>
          <p:nvPr/>
        </p:nvSpPr>
        <p:spPr>
          <a:xfrm>
            <a:off x="9728200" y="2781300"/>
            <a:ext cx="139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50">
                <a:solidFill>
                  <a:srgbClr val="716B66"/>
                </a:solidFill>
                <a:latin typeface="Segoe UI" panose="020B0502040204020203" pitchFamily="34" charset="0"/>
              </a:rPr>
              <a:t>Cùng đơn vị quality</a:t>
            </a:r>
            <a:endParaRPr lang="en-US" sz="1250">
              <a:solidFill>
                <a:srgbClr val="716B66"/>
              </a:solidFill>
              <a:latin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1D82F69-AE53-96E0-05F1-7F66DDD77689}"/>
              </a:ext>
            </a:extLst>
          </p:cNvPr>
          <p:cNvSpPr/>
          <p:nvPr/>
        </p:nvSpPr>
        <p:spPr>
          <a:xfrm>
            <a:off x="5511800" y="3670300"/>
            <a:ext cx="5816600" cy="21209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F9DAB4-E098-F38C-6540-6DB780E1B91B}"/>
              </a:ext>
            </a:extLst>
          </p:cNvPr>
          <p:cNvSpPr txBox="1"/>
          <p:nvPr/>
        </p:nvSpPr>
        <p:spPr>
          <a:xfrm>
            <a:off x="5816600" y="39751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VÌ SAO CHỌN?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288268-0BA5-2DBF-F718-A1D8392340AB}"/>
              </a:ext>
            </a:extLst>
          </p:cNvPr>
          <p:cNvSpPr txBox="1"/>
          <p:nvPr/>
        </p:nvSpPr>
        <p:spPr>
          <a:xfrm>
            <a:off x="5816600" y="4356100"/>
            <a:ext cx="5054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00">
                <a:solidFill>
                  <a:srgbClr val="22252A"/>
                </a:solidFill>
                <a:latin typeface="Segoe UI" panose="020B0502040204020203" pitchFamily="34" charset="0"/>
              </a:rPr>
              <a:t>•  Sau tuning: RMSE = 0,6160 và R² = 0,4642, tốt hơn Random Forest ban đầu.</a:t>
            </a:r>
            <a:endParaRPr lang="en-US" sz="130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B652D91-963E-2742-68B2-70AC9BE87E57}"/>
              </a:ext>
            </a:extLst>
          </p:cNvPr>
          <p:cNvSpPr txBox="1"/>
          <p:nvPr/>
        </p:nvSpPr>
        <p:spPr>
          <a:xfrm>
            <a:off x="5816600" y="4813300"/>
            <a:ext cx="5054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22252A"/>
                </a:solidFill>
                <a:latin typeface="Segoe UI" panose="020B0502040204020203" pitchFamily="34" charset="0"/>
              </a:rPr>
              <a:t>•  MAE = 0,4689; mô hình học tốt quan hệ phi tuyến và cân bằng các metric.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CA47DF-B50E-4E03-8464-FD687FCCA0F7}"/>
              </a:ext>
            </a:extLst>
          </p:cNvPr>
          <p:cNvSpPr txBox="1"/>
          <p:nvPr/>
        </p:nvSpPr>
        <p:spPr>
          <a:xfrm>
            <a:off x="5816600" y="5270500"/>
            <a:ext cx="5054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22252A"/>
                </a:solidFill>
                <a:latin typeface="Segoe UI" panose="020B0502040204020203" pitchFamily="34" charset="0"/>
              </a:rPr>
              <a:t>•  Pipeline giúp dự đoán nhất quán; lựa chọn dựa trên độ ổn định và khả năng vận hành.</a:t>
            </a:r>
          </a:p>
        </p:txBody>
      </p:sp>
    </p:spTree>
    <p:extLst>
      <p:ext uri="{BB962C8B-B14F-4D97-AF65-F5344CB8AC3E}">
        <p14:creationId xmlns:p14="http://schemas.microsoft.com/office/powerpoint/2010/main" val="21347768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83D31D-CC82-602F-978A-53E53E98644A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22252A"/>
                </a:solidFill>
                <a:latin typeface="Segoe UI" panose="020B0502040204020203" pitchFamily="34" charset="0"/>
              </a:rPr>
              <a:t>Kiến trúc hệ thống dự đoán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7FD452-F5A1-39C7-8D9C-E5FDA3611391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SYSTEM DESIGN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0CBDAEA-91ED-4802-5BE7-A2FA371B8F73}"/>
              </a:ext>
            </a:extLst>
          </p:cNvPr>
          <p:cNvCxnSpPr/>
          <p:nvPr/>
        </p:nvCxnSpPr>
        <p:spPr>
          <a:xfrm>
            <a:off x="609600" y="1257300"/>
            <a:ext cx="736600" cy="0"/>
          </a:xfrm>
          <a:prstGeom prst="straightConnector1">
            <a:avLst/>
          </a:prstGeom>
          <a:ln w="406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B2A4D44-D64B-037F-B6AA-01ECF6E47D3C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9F03ED-DDCA-6B58-D3EA-AAD386E29D8F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DF8CB37-FDEF-DA3E-FF43-711B0C325472}"/>
              </a:ext>
            </a:extLst>
          </p:cNvPr>
          <p:cNvSpPr/>
          <p:nvPr/>
        </p:nvSpPr>
        <p:spPr>
          <a:xfrm>
            <a:off x="482600" y="2197100"/>
            <a:ext cx="1600200" cy="1320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B27FE2-6E06-C2CB-B397-84498AC66BC7}"/>
              </a:ext>
            </a:extLst>
          </p:cNvPr>
          <p:cNvSpPr txBox="1"/>
          <p:nvPr/>
        </p:nvSpPr>
        <p:spPr>
          <a:xfrm>
            <a:off x="609600" y="2438400"/>
            <a:ext cx="134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vi-VN" sz="1550" b="1">
                <a:solidFill>
                  <a:srgbClr val="22252A"/>
                </a:solidFill>
                <a:latin typeface="Segoe UI" panose="020B0502040204020203" pitchFamily="34" charset="0"/>
              </a:rPr>
              <a:t>Người dùng</a:t>
            </a:r>
            <a:endParaRPr lang="en-US" sz="1550" b="1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2F7CE9-A21B-78B8-1E2B-CE3F3A95D273}"/>
              </a:ext>
            </a:extLst>
          </p:cNvPr>
          <p:cNvSpPr txBox="1"/>
          <p:nvPr/>
        </p:nvSpPr>
        <p:spPr>
          <a:xfrm>
            <a:off x="596900" y="2908300"/>
            <a:ext cx="137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50">
                <a:solidFill>
                  <a:srgbClr val="716B66"/>
                </a:solidFill>
                <a:latin typeface="Segoe UI" panose="020B0502040204020203" pitchFamily="34" charset="0"/>
              </a:rPr>
              <a:t>Nhập 11 chỉ số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8EB3DB-B7E2-0C0E-FA01-BD9F837B30BF}"/>
              </a:ext>
            </a:extLst>
          </p:cNvPr>
          <p:cNvCxnSpPr/>
          <p:nvPr/>
        </p:nvCxnSpPr>
        <p:spPr>
          <a:xfrm>
            <a:off x="2095500" y="2857500"/>
            <a:ext cx="304800" cy="0"/>
          </a:xfrm>
          <a:prstGeom prst="straightConnector1">
            <a:avLst/>
          </a:prstGeom>
          <a:ln w="22860">
            <a:solidFill>
              <a:srgbClr val="8C3B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A0BA7F0-FA9A-A7E8-37ED-C4DE4055C5A4}"/>
              </a:ext>
            </a:extLst>
          </p:cNvPr>
          <p:cNvSpPr/>
          <p:nvPr/>
        </p:nvSpPr>
        <p:spPr>
          <a:xfrm>
            <a:off x="2425700" y="2197100"/>
            <a:ext cx="1600200" cy="1320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10BCD5-41B5-028F-ABA2-CC6D3B46191C}"/>
              </a:ext>
            </a:extLst>
          </p:cNvPr>
          <p:cNvSpPr txBox="1"/>
          <p:nvPr/>
        </p:nvSpPr>
        <p:spPr>
          <a:xfrm>
            <a:off x="2552700" y="2438400"/>
            <a:ext cx="134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50" b="1">
                <a:solidFill>
                  <a:srgbClr val="22252A"/>
                </a:solidFill>
                <a:latin typeface="Segoe UI" panose="020B0502040204020203" pitchFamily="34" charset="0"/>
              </a:rPr>
              <a:t>Giao diện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B2C525-4CCF-A2AE-0A2A-3B50957A33D6}"/>
              </a:ext>
            </a:extLst>
          </p:cNvPr>
          <p:cNvSpPr txBox="1"/>
          <p:nvPr/>
        </p:nvSpPr>
        <p:spPr>
          <a:xfrm>
            <a:off x="2540000" y="2908300"/>
            <a:ext cx="137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50">
                <a:solidFill>
                  <a:srgbClr val="716B66"/>
                </a:solidFill>
                <a:latin typeface="Segoe UI" panose="020B0502040204020203" pitchFamily="34" charset="0"/>
              </a:rPr>
              <a:t>Kiểm tra biểu mẫu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BB87F1C-841E-2EFD-B9D1-65467DAF4F13}"/>
              </a:ext>
            </a:extLst>
          </p:cNvPr>
          <p:cNvCxnSpPr/>
          <p:nvPr/>
        </p:nvCxnSpPr>
        <p:spPr>
          <a:xfrm>
            <a:off x="4038600" y="2857500"/>
            <a:ext cx="304800" cy="0"/>
          </a:xfrm>
          <a:prstGeom prst="straightConnector1">
            <a:avLst/>
          </a:prstGeom>
          <a:ln w="22860">
            <a:solidFill>
              <a:srgbClr val="8C3B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4C6AAD2-2F72-BA4A-9CB1-7B38B34BFA6C}"/>
              </a:ext>
            </a:extLst>
          </p:cNvPr>
          <p:cNvSpPr/>
          <p:nvPr/>
        </p:nvSpPr>
        <p:spPr>
          <a:xfrm>
            <a:off x="4368800" y="2197100"/>
            <a:ext cx="1600200" cy="1320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6B5BEE-AA9E-A939-BE0C-EF36F04659D9}"/>
              </a:ext>
            </a:extLst>
          </p:cNvPr>
          <p:cNvSpPr txBox="1"/>
          <p:nvPr/>
        </p:nvSpPr>
        <p:spPr>
          <a:xfrm>
            <a:off x="4495800" y="2438400"/>
            <a:ext cx="134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50" b="1">
                <a:solidFill>
                  <a:srgbClr val="22252A"/>
                </a:solidFill>
                <a:latin typeface="Segoe UI" panose="020B0502040204020203" pitchFamily="34" charset="0"/>
              </a:rPr>
              <a:t>Backend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5E0A88-5096-4EA0-8FF6-16C3CA5F1483}"/>
              </a:ext>
            </a:extLst>
          </p:cNvPr>
          <p:cNvSpPr txBox="1"/>
          <p:nvPr/>
        </p:nvSpPr>
        <p:spPr>
          <a:xfrm>
            <a:off x="4483100" y="2908300"/>
            <a:ext cx="137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50">
                <a:solidFill>
                  <a:srgbClr val="716B66"/>
                </a:solidFill>
                <a:latin typeface="Segoe UI" panose="020B0502040204020203" pitchFamily="34" charset="0"/>
              </a:rPr>
              <a:t>API điều phối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24AEBC7-62EC-4BC2-0316-811A4C79BDF0}"/>
              </a:ext>
            </a:extLst>
          </p:cNvPr>
          <p:cNvCxnSpPr/>
          <p:nvPr/>
        </p:nvCxnSpPr>
        <p:spPr>
          <a:xfrm>
            <a:off x="5981700" y="2857500"/>
            <a:ext cx="304800" cy="0"/>
          </a:xfrm>
          <a:prstGeom prst="straightConnector1">
            <a:avLst/>
          </a:prstGeom>
          <a:ln w="22860">
            <a:solidFill>
              <a:srgbClr val="8C3B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6CCFC5F-1784-64A6-17BF-5B749BB77EB9}"/>
              </a:ext>
            </a:extLst>
          </p:cNvPr>
          <p:cNvSpPr/>
          <p:nvPr/>
        </p:nvSpPr>
        <p:spPr>
          <a:xfrm>
            <a:off x="6311900" y="2197100"/>
            <a:ext cx="1600200" cy="1320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ECF1E-84D8-458C-F0C0-0B11D4C531C9}"/>
              </a:ext>
            </a:extLst>
          </p:cNvPr>
          <p:cNvSpPr txBox="1"/>
          <p:nvPr/>
        </p:nvSpPr>
        <p:spPr>
          <a:xfrm>
            <a:off x="6438900" y="2438400"/>
            <a:ext cx="134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50" b="1">
                <a:solidFill>
                  <a:srgbClr val="22252A"/>
                </a:solidFill>
                <a:latin typeface="Segoe UI" panose="020B0502040204020203" pitchFamily="34" charset="0"/>
              </a:rPr>
              <a:t>AI Service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B78A46-9090-7A25-47D1-D39B504E2F6C}"/>
              </a:ext>
            </a:extLst>
          </p:cNvPr>
          <p:cNvSpPr txBox="1"/>
          <p:nvPr/>
        </p:nvSpPr>
        <p:spPr>
          <a:xfrm>
            <a:off x="6426200" y="2908300"/>
            <a:ext cx="137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50">
                <a:solidFill>
                  <a:srgbClr val="716B66"/>
                </a:solidFill>
                <a:latin typeface="Segoe UI" panose="020B0502040204020203" pitchFamily="34" charset="0"/>
              </a:rPr>
              <a:t>Thành phần dự đoán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1C6ED09-3992-19F9-185F-305D5F23A65D}"/>
              </a:ext>
            </a:extLst>
          </p:cNvPr>
          <p:cNvCxnSpPr/>
          <p:nvPr/>
        </p:nvCxnSpPr>
        <p:spPr>
          <a:xfrm>
            <a:off x="7924800" y="2857500"/>
            <a:ext cx="304800" cy="0"/>
          </a:xfrm>
          <a:prstGeom prst="straightConnector1">
            <a:avLst/>
          </a:prstGeom>
          <a:ln w="22860">
            <a:solidFill>
              <a:srgbClr val="8C3B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B0FFC7D-FF13-E563-4650-9B3FFCCF60CA}"/>
              </a:ext>
            </a:extLst>
          </p:cNvPr>
          <p:cNvSpPr/>
          <p:nvPr/>
        </p:nvSpPr>
        <p:spPr>
          <a:xfrm>
            <a:off x="8255000" y="2197100"/>
            <a:ext cx="1600200" cy="1320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A7E7E5-CC29-F716-797A-1B1755277E93}"/>
              </a:ext>
            </a:extLst>
          </p:cNvPr>
          <p:cNvSpPr txBox="1"/>
          <p:nvPr/>
        </p:nvSpPr>
        <p:spPr>
          <a:xfrm>
            <a:off x="8382000" y="2438400"/>
            <a:ext cx="134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50" b="1">
                <a:solidFill>
                  <a:srgbClr val="22252A"/>
                </a:solidFill>
                <a:latin typeface="Segoe UI" panose="020B0502040204020203" pitchFamily="34" charset="0"/>
              </a:rPr>
              <a:t>Mô hình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770CFF-01D5-F04D-065F-622FEA9EFD33}"/>
              </a:ext>
            </a:extLst>
          </p:cNvPr>
          <p:cNvSpPr txBox="1"/>
          <p:nvPr/>
        </p:nvSpPr>
        <p:spPr>
          <a:xfrm>
            <a:off x="8369300" y="2908300"/>
            <a:ext cx="137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50">
                <a:solidFill>
                  <a:srgbClr val="716B66"/>
                </a:solidFill>
                <a:latin typeface="Segoe UI" panose="020B0502040204020203" pitchFamily="34" charset="0"/>
              </a:rPr>
              <a:t>Pipeline Random Forest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F9BD802-8FBC-8455-978F-50982B623171}"/>
              </a:ext>
            </a:extLst>
          </p:cNvPr>
          <p:cNvCxnSpPr/>
          <p:nvPr/>
        </p:nvCxnSpPr>
        <p:spPr>
          <a:xfrm>
            <a:off x="9867900" y="2857500"/>
            <a:ext cx="304800" cy="0"/>
          </a:xfrm>
          <a:prstGeom prst="straightConnector1">
            <a:avLst/>
          </a:prstGeom>
          <a:ln w="22860">
            <a:solidFill>
              <a:srgbClr val="8C3B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4FC6403B-EA8C-FA5C-7869-12ACAB29908A}"/>
              </a:ext>
            </a:extLst>
          </p:cNvPr>
          <p:cNvSpPr/>
          <p:nvPr/>
        </p:nvSpPr>
        <p:spPr>
          <a:xfrm>
            <a:off x="10198100" y="2197100"/>
            <a:ext cx="1600200" cy="1320800"/>
          </a:xfrm>
          <a:prstGeom prst="roundRect">
            <a:avLst/>
          </a:prstGeom>
          <a:solidFill>
            <a:srgbClr val="8C3B47"/>
          </a:solidFill>
          <a:ln w="9525">
            <a:solidFill>
              <a:srgbClr val="8C3B4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AC6AE8-616E-0838-10EE-2FF5BB98AC98}"/>
              </a:ext>
            </a:extLst>
          </p:cNvPr>
          <p:cNvSpPr txBox="1"/>
          <p:nvPr/>
        </p:nvSpPr>
        <p:spPr>
          <a:xfrm>
            <a:off x="10325100" y="2438400"/>
            <a:ext cx="1346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50" b="1">
                <a:solidFill>
                  <a:srgbClr val="FFFFFF"/>
                </a:solidFill>
                <a:latin typeface="Segoe UI" panose="020B0502040204020203" pitchFamily="34" charset="0"/>
              </a:rPr>
              <a:t>Kết quả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86834B-9432-6E00-5400-AB0EE2702267}"/>
              </a:ext>
            </a:extLst>
          </p:cNvPr>
          <p:cNvSpPr txBox="1"/>
          <p:nvPr/>
        </p:nvSpPr>
        <p:spPr>
          <a:xfrm>
            <a:off x="10312400" y="2908300"/>
            <a:ext cx="137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50">
                <a:solidFill>
                  <a:srgbClr val="FFFFFF"/>
                </a:solidFill>
                <a:latin typeface="Segoe UI" panose="020B0502040204020203" pitchFamily="34" charset="0"/>
              </a:rPr>
              <a:t>Điểm quality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EF77A24-F2CF-5D90-1ECF-BE450C32815B}"/>
              </a:ext>
            </a:extLst>
          </p:cNvPr>
          <p:cNvCxnSpPr/>
          <p:nvPr/>
        </p:nvCxnSpPr>
        <p:spPr>
          <a:xfrm>
            <a:off x="4699000" y="3530600"/>
            <a:ext cx="0" cy="698500"/>
          </a:xfrm>
          <a:prstGeom prst="straightConnector1">
            <a:avLst/>
          </a:prstGeom>
          <a:ln w="19050">
            <a:solidFill>
              <a:srgbClr val="8C3B47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B3CE6B2-5AF2-C772-0338-462C712613B2}"/>
              </a:ext>
            </a:extLst>
          </p:cNvPr>
          <p:cNvSpPr/>
          <p:nvPr/>
        </p:nvSpPr>
        <p:spPr>
          <a:xfrm>
            <a:off x="3708400" y="4330700"/>
            <a:ext cx="1981200" cy="11176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AB14C8-2169-EC39-A684-C0F4ED9EDAE7}"/>
              </a:ext>
            </a:extLst>
          </p:cNvPr>
          <p:cNvSpPr txBox="1"/>
          <p:nvPr/>
        </p:nvSpPr>
        <p:spPr>
          <a:xfrm>
            <a:off x="3873500" y="4546600"/>
            <a:ext cx="165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300" b="1">
                <a:solidFill>
                  <a:srgbClr val="22252A"/>
                </a:solidFill>
                <a:latin typeface="Segoe UI" panose="020B0502040204020203" pitchFamily="34" charset="0"/>
              </a:rPr>
              <a:t>Lịch sử dự đoán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3F28B5-F9CA-09D6-7EB0-193775002E7C}"/>
              </a:ext>
            </a:extLst>
          </p:cNvPr>
          <p:cNvSpPr txBox="1"/>
          <p:nvPr/>
        </p:nvSpPr>
        <p:spPr>
          <a:xfrm>
            <a:off x="3873500" y="4978400"/>
            <a:ext cx="1651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>
                <a:solidFill>
                  <a:srgbClr val="716B66"/>
                </a:solidFill>
                <a:latin typeface="Segoe UI" panose="020B0502040204020203" pitchFamily="34" charset="0"/>
              </a:rPr>
              <a:t>MongoDB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4230177-9282-78AB-527E-B32E1E2BDD75}"/>
              </a:ext>
            </a:extLst>
          </p:cNvPr>
          <p:cNvSpPr/>
          <p:nvPr/>
        </p:nvSpPr>
        <p:spPr>
          <a:xfrm>
            <a:off x="6096000" y="3886200"/>
            <a:ext cx="5232400" cy="1778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10AEF4-C4BA-2A79-2EAA-F0BF7155B4E0}"/>
              </a:ext>
            </a:extLst>
          </p:cNvPr>
          <p:cNvSpPr txBox="1"/>
          <p:nvPr/>
        </p:nvSpPr>
        <p:spPr>
          <a:xfrm>
            <a:off x="6388100" y="4114800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NỘI DUNG TRÌNH BÀY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336A0A-DC47-F81B-5764-2B967460A53B}"/>
              </a:ext>
            </a:extLst>
          </p:cNvPr>
          <p:cNvSpPr txBox="1"/>
          <p:nvPr/>
        </p:nvSpPr>
        <p:spPr>
          <a:xfrm>
            <a:off x="6388100" y="44704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50">
                <a:solidFill>
                  <a:srgbClr val="22252A"/>
                </a:solidFill>
                <a:latin typeface="Segoe UI" panose="020B0502040204020203" pitchFamily="34" charset="0"/>
              </a:rPr>
              <a:t>•  Người dùng nhập 11 thông số; giao diện và backend kiểm tra dữ liệu.</a:t>
            </a:r>
            <a:endParaRPr lang="en-US" sz="12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B398B91-B3FF-AB4F-68FD-B891C924A71C}"/>
              </a:ext>
            </a:extLst>
          </p:cNvPr>
          <p:cNvSpPr txBox="1"/>
          <p:nvPr/>
        </p:nvSpPr>
        <p:spPr>
          <a:xfrm>
            <a:off x="6388100" y="48514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50">
                <a:solidFill>
                  <a:srgbClr val="22252A"/>
                </a:solidFill>
                <a:latin typeface="Segoe UI" panose="020B0502040204020203" pitchFamily="34" charset="0"/>
              </a:rPr>
              <a:t>•  Backend gọi AI Service; pipeline tự tiền xử lý rồi dự đoán quality.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03D7BD-6B23-7D39-9EB9-6BFAA6D851D6}"/>
              </a:ext>
            </a:extLst>
          </p:cNvPr>
          <p:cNvSpPr txBox="1"/>
          <p:nvPr/>
        </p:nvSpPr>
        <p:spPr>
          <a:xfrm>
            <a:off x="6388100" y="5232400"/>
            <a:ext cx="457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250">
                <a:solidFill>
                  <a:srgbClr val="22252A"/>
                </a:solidFill>
                <a:latin typeface="Segoe UI" panose="020B0502040204020203" pitchFamily="34" charset="0"/>
              </a:rPr>
              <a:t>•  Kết quả được trả về giao diện và có thể lưu lịch sử vào MongoDB.</a:t>
            </a:r>
            <a:endParaRPr lang="en-US" sz="12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58022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8B5DE3-5EE8-11A6-1FE6-1F218D0F4AAA}"/>
              </a:ext>
            </a:extLst>
          </p:cNvPr>
          <p:cNvSpPr txBox="1"/>
          <p:nvPr/>
        </p:nvSpPr>
        <p:spPr>
          <a:xfrm>
            <a:off x="609600" y="317500"/>
            <a:ext cx="1041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2800" b="1">
                <a:solidFill>
                  <a:srgbClr val="22252A"/>
                </a:solidFill>
                <a:latin typeface="Segoe UI" panose="020B0502040204020203" pitchFamily="34" charset="0"/>
              </a:rPr>
              <a:t>Kết luận và hướng phát triển</a:t>
            </a:r>
            <a:endParaRPr lang="en-US" sz="2800" b="1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6B65AD-0FDA-2E21-5DD2-CD719B422347}"/>
              </a:ext>
            </a:extLst>
          </p:cNvPr>
          <p:cNvSpPr txBox="1"/>
          <p:nvPr/>
        </p:nvSpPr>
        <p:spPr>
          <a:xfrm>
            <a:off x="609600" y="9398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50" b="1">
                <a:solidFill>
                  <a:srgbClr val="8C3B47"/>
                </a:solidFill>
                <a:latin typeface="Segoe UI" panose="020B0502040204020203" pitchFamily="34" charset="0"/>
              </a:rPr>
              <a:t>WRAP-UP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1EF1A77-6F46-6A02-C05A-55CAFB536C8E}"/>
              </a:ext>
            </a:extLst>
          </p:cNvPr>
          <p:cNvCxnSpPr/>
          <p:nvPr/>
        </p:nvCxnSpPr>
        <p:spPr>
          <a:xfrm>
            <a:off x="609600" y="1257300"/>
            <a:ext cx="736600" cy="0"/>
          </a:xfrm>
          <a:prstGeom prst="straightConnector1">
            <a:avLst/>
          </a:prstGeom>
          <a:ln w="40640">
            <a:solidFill>
              <a:srgbClr val="8C3B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402E375-9D16-C90F-6EAB-52565D7710E6}"/>
              </a:ext>
            </a:extLst>
          </p:cNvPr>
          <p:cNvSpPr txBox="1"/>
          <p:nvPr/>
        </p:nvSpPr>
        <p:spPr>
          <a:xfrm>
            <a:off x="11366500" y="6362700"/>
            <a:ext cx="355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000">
                <a:solidFill>
                  <a:srgbClr val="716B66"/>
                </a:solidFill>
                <a:latin typeface="Segoe UI" panose="020B0502040204020203" pitchFamily="34" charset="0"/>
              </a:rPr>
              <a:t>17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869D46-75B3-3494-CA95-F739C823EF7B}"/>
              </a:ext>
            </a:extLst>
          </p:cNvPr>
          <p:cNvSpPr txBox="1"/>
          <p:nvPr/>
        </p:nvSpPr>
        <p:spPr>
          <a:xfrm>
            <a:off x="609600" y="63754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850" b="1">
                <a:solidFill>
                  <a:srgbClr val="716B66"/>
                </a:solidFill>
                <a:latin typeface="Segoe UI" panose="020B0502040204020203" pitchFamily="34" charset="0"/>
              </a:rPr>
              <a:t>WINE QUALITY • MACHINE LEARNING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232F132-255A-34E3-42AE-22090F8A51AB}"/>
              </a:ext>
            </a:extLst>
          </p:cNvPr>
          <p:cNvSpPr/>
          <p:nvPr/>
        </p:nvSpPr>
        <p:spPr>
          <a:xfrm>
            <a:off x="609600" y="1739900"/>
            <a:ext cx="3352800" cy="3937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0606D5-00E7-33B9-B28C-9416F970A5F2}"/>
              </a:ext>
            </a:extLst>
          </p:cNvPr>
          <p:cNvSpPr txBox="1"/>
          <p:nvPr/>
        </p:nvSpPr>
        <p:spPr>
          <a:xfrm>
            <a:off x="914400" y="2057400"/>
            <a:ext cx="266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KẾT LUẬN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F2E821-C8B3-E690-DF71-0D16B1B81354}"/>
              </a:ext>
            </a:extLst>
          </p:cNvPr>
          <p:cNvSpPr txBox="1"/>
          <p:nvPr/>
        </p:nvSpPr>
        <p:spPr>
          <a:xfrm>
            <a:off x="914400" y="25527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50">
                <a:solidFill>
                  <a:srgbClr val="22252A"/>
                </a:solidFill>
                <a:latin typeface="Segoe UI" panose="020B0502040204020203" pitchFamily="34" charset="0"/>
              </a:rPr>
              <a:t>•  EDA cho thấy alcohol liên hệ dương, volatile acidity liên hệ âm với quality</a:t>
            </a:r>
            <a:endParaRPr lang="en-US" sz="14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D03D2A-C265-D796-16C4-C117431EC7D6}"/>
              </a:ext>
            </a:extLst>
          </p:cNvPr>
          <p:cNvSpPr txBox="1"/>
          <p:nvPr/>
        </p:nvSpPr>
        <p:spPr>
          <a:xfrm>
            <a:off x="914400" y="32131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50">
                <a:solidFill>
                  <a:srgbClr val="22252A"/>
                </a:solidFill>
                <a:latin typeface="Segoe UI" panose="020B0502040204020203" pitchFamily="34" charset="0"/>
              </a:rPr>
              <a:t>•  Mô hình cây vượt hai mô hình tuyến tính</a:t>
            </a:r>
            <a:endParaRPr lang="en-US" sz="14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050523-1C2D-56A8-BDA9-9CFEC2BBEF5D}"/>
              </a:ext>
            </a:extLst>
          </p:cNvPr>
          <p:cNvSpPr txBox="1"/>
          <p:nvPr/>
        </p:nvSpPr>
        <p:spPr>
          <a:xfrm>
            <a:off x="914400" y="38735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50">
                <a:solidFill>
                  <a:srgbClr val="22252A"/>
                </a:solidFill>
                <a:latin typeface="Segoe UI" panose="020B0502040204020203" pitchFamily="34" charset="0"/>
              </a:rPr>
              <a:t>•  Random Forest tuned được chọn từ kết quả thực tế</a:t>
            </a:r>
            <a:endParaRPr lang="en-US" sz="14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CF39F1-37E0-1A3B-C1E6-410B2FA4922C}"/>
              </a:ext>
            </a:extLst>
          </p:cNvPr>
          <p:cNvSpPr txBox="1"/>
          <p:nvPr/>
        </p:nvSpPr>
        <p:spPr>
          <a:xfrm>
            <a:off x="914400" y="45339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50">
                <a:solidFill>
                  <a:srgbClr val="22252A"/>
                </a:solidFill>
                <a:latin typeface="Segoe UI" panose="020B0502040204020203" pitchFamily="34" charset="0"/>
              </a:rPr>
              <a:t>•  Đã tích hợp mô hình vào hệ thống dự đoán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73972C7-7D2E-BA27-59C5-64C585CDA2F4}"/>
              </a:ext>
            </a:extLst>
          </p:cNvPr>
          <p:cNvSpPr/>
          <p:nvPr/>
        </p:nvSpPr>
        <p:spPr>
          <a:xfrm>
            <a:off x="4419600" y="1739900"/>
            <a:ext cx="3352800" cy="3937000"/>
          </a:xfrm>
          <a:prstGeom prst="roundRect">
            <a:avLst/>
          </a:prstGeom>
          <a:solidFill>
            <a:srgbClr val="F8F2F2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55E6B9-9C4B-9924-C05F-4D60B400E74C}"/>
              </a:ext>
            </a:extLst>
          </p:cNvPr>
          <p:cNvSpPr txBox="1"/>
          <p:nvPr/>
        </p:nvSpPr>
        <p:spPr>
          <a:xfrm>
            <a:off x="4724400" y="2057400"/>
            <a:ext cx="266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00" b="1">
                <a:solidFill>
                  <a:srgbClr val="8C3B47"/>
                </a:solidFill>
                <a:latin typeface="Segoe UI" panose="020B0502040204020203" pitchFamily="34" charset="0"/>
              </a:rPr>
              <a:t>HẠN CHẾ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FD5CD8-17DB-3E7C-EB33-EDB3695542CA}"/>
              </a:ext>
            </a:extLst>
          </p:cNvPr>
          <p:cNvSpPr txBox="1"/>
          <p:nvPr/>
        </p:nvSpPr>
        <p:spPr>
          <a:xfrm>
            <a:off x="4724400" y="25527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50">
                <a:solidFill>
                  <a:srgbClr val="22252A"/>
                </a:solidFill>
                <a:latin typeface="Segoe UI" panose="020B0502040204020203" pitchFamily="34" charset="0"/>
              </a:rPr>
              <a:t>•  Chỉ sử dụng dữ liệu rượu vang đỏ</a:t>
            </a:r>
            <a:endParaRPr lang="en-US" sz="14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C9A276-4BF4-82A7-1289-BC611BC10B33}"/>
              </a:ext>
            </a:extLst>
          </p:cNvPr>
          <p:cNvSpPr txBox="1"/>
          <p:nvPr/>
        </p:nvSpPr>
        <p:spPr>
          <a:xfrm>
            <a:off x="4724400" y="32131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50">
                <a:solidFill>
                  <a:srgbClr val="22252A"/>
                </a:solidFill>
                <a:latin typeface="Segoe UI" panose="020B0502040204020203" pitchFamily="34" charset="0"/>
              </a:rPr>
              <a:t>•  Quality phụ thuộc đánh giá cảm quan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10C7B4-8C89-97A4-5749-45ABE206DA1A}"/>
              </a:ext>
            </a:extLst>
          </p:cNvPr>
          <p:cNvSpPr txBox="1"/>
          <p:nvPr/>
        </p:nvSpPr>
        <p:spPr>
          <a:xfrm>
            <a:off x="4724400" y="38735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50">
                <a:solidFill>
                  <a:srgbClr val="22252A"/>
                </a:solidFill>
                <a:latin typeface="Segoe UI" panose="020B0502040204020203" pitchFamily="34" charset="0"/>
              </a:rPr>
              <a:t>•  Nhóm điểm hiếm còn ít mẫu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53648A-5128-80CD-FD65-762F4EF362A2}"/>
              </a:ext>
            </a:extLst>
          </p:cNvPr>
          <p:cNvSpPr txBox="1"/>
          <p:nvPr/>
        </p:nvSpPr>
        <p:spPr>
          <a:xfrm>
            <a:off x="4724400" y="45339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50">
                <a:solidFill>
                  <a:srgbClr val="22252A"/>
                </a:solidFill>
                <a:latin typeface="Segoe UI" panose="020B0502040204020203" pitchFamily="34" charset="0"/>
              </a:rPr>
              <a:t>•  R² cho thấy vẫn còn biến thiên chưa giải thích</a:t>
            </a:r>
            <a:endParaRPr lang="en-US" sz="14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7AE6654-E8DB-7F2E-51DA-6F3E349101D0}"/>
              </a:ext>
            </a:extLst>
          </p:cNvPr>
          <p:cNvSpPr/>
          <p:nvPr/>
        </p:nvSpPr>
        <p:spPr>
          <a:xfrm>
            <a:off x="8229600" y="1739900"/>
            <a:ext cx="3352800" cy="3937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15066B-F88F-6EAE-C8B1-14674E5A3862}"/>
              </a:ext>
            </a:extLst>
          </p:cNvPr>
          <p:cNvSpPr txBox="1"/>
          <p:nvPr/>
        </p:nvSpPr>
        <p:spPr>
          <a:xfrm>
            <a:off x="8534400" y="2057400"/>
            <a:ext cx="266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000" b="1">
                <a:solidFill>
                  <a:srgbClr val="8C3B47"/>
                </a:solidFill>
                <a:latin typeface="Segoe UI" panose="020B0502040204020203" pitchFamily="34" charset="0"/>
              </a:rPr>
              <a:t>HƯỚNG PHÁT TRIỂN</a:t>
            </a:r>
            <a:endParaRPr lang="en-US" sz="1000" b="1">
              <a:solidFill>
                <a:srgbClr val="8C3B47"/>
              </a:solidFill>
              <a:latin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12A8CA-44E2-E71A-780A-FB3B2C43922A}"/>
              </a:ext>
            </a:extLst>
          </p:cNvPr>
          <p:cNvSpPr txBox="1"/>
          <p:nvPr/>
        </p:nvSpPr>
        <p:spPr>
          <a:xfrm>
            <a:off x="8534400" y="25527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50">
                <a:solidFill>
                  <a:srgbClr val="22252A"/>
                </a:solidFill>
                <a:latin typeface="Segoe UI" panose="020B0502040204020203" pitchFamily="34" charset="0"/>
              </a:rPr>
              <a:t>•  Mở rộng dữ liệu và loại rượu</a:t>
            </a:r>
            <a:endParaRPr lang="en-US" sz="14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F65AE6-4D9D-A2C6-C7F8-1167AC8024C3}"/>
              </a:ext>
            </a:extLst>
          </p:cNvPr>
          <p:cNvSpPr txBox="1"/>
          <p:nvPr/>
        </p:nvSpPr>
        <p:spPr>
          <a:xfrm>
            <a:off x="8534400" y="32131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450">
                <a:solidFill>
                  <a:srgbClr val="22252A"/>
                </a:solidFill>
                <a:latin typeface="Segoe UI" panose="020B0502040204020203" pitchFamily="34" charset="0"/>
              </a:rPr>
              <a:t>•  Bổ sung đặc trưng quy trình sản xuất</a:t>
            </a:r>
            <a:endParaRPr lang="en-US" sz="1450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A9EB88-7442-67FB-B536-AEE330C51F5A}"/>
              </a:ext>
            </a:extLst>
          </p:cNvPr>
          <p:cNvSpPr txBox="1"/>
          <p:nvPr/>
        </p:nvSpPr>
        <p:spPr>
          <a:xfrm>
            <a:off x="8534400" y="38735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50">
                <a:solidFill>
                  <a:srgbClr val="22252A"/>
                </a:solidFill>
                <a:latin typeface="Segoe UI" panose="020B0502040204020203" pitchFamily="34" charset="0"/>
              </a:rPr>
              <a:t>•  Giải thích dự đoán của mô hình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5082CC-C2C8-C58D-9FAB-C822C83CF3F9}"/>
              </a:ext>
            </a:extLst>
          </p:cNvPr>
          <p:cNvSpPr txBox="1"/>
          <p:nvPr/>
        </p:nvSpPr>
        <p:spPr>
          <a:xfrm>
            <a:off x="8534400" y="4533900"/>
            <a:ext cx="260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50">
                <a:solidFill>
                  <a:srgbClr val="22252A"/>
                </a:solidFill>
                <a:latin typeface="Segoe UI" panose="020B0502040204020203" pitchFamily="34" charset="0"/>
              </a:rPr>
              <a:t>•  Theo dõi drift và tái huấn luyện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6D0314-5DD3-D331-AA53-702F3E3B42F4}"/>
              </a:ext>
            </a:extLst>
          </p:cNvPr>
          <p:cNvSpPr txBox="1"/>
          <p:nvPr/>
        </p:nvSpPr>
        <p:spPr>
          <a:xfrm>
            <a:off x="609600" y="5943600"/>
            <a:ext cx="1079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vi-VN" sz="1350" b="1">
                <a:solidFill>
                  <a:srgbClr val="22252A"/>
                </a:solidFill>
                <a:latin typeface="Segoe UI" panose="020B0502040204020203" pitchFamily="34" charset="0"/>
              </a:rPr>
              <a:t>Thông điệp cuối: mô hình hỗ trợ đánh giá nhanh, nhưng cần thêm dữ liệu và giải thích để tăng độ tin cậy.</a:t>
            </a:r>
            <a:endParaRPr lang="en-US" sz="1350" b="1">
              <a:solidFill>
                <a:srgbClr val="22252A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491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1829</Words>
  <Application>Microsoft Office PowerPoint</Application>
  <PresentationFormat>Widescreen</PresentationFormat>
  <Paragraphs>291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Open Sans 2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revision>5</cp:revision>
  <dcterms:created xsi:type="dcterms:W3CDTF">2026-09-27T05:31:16Z</dcterms:created>
  <dcterms:modified xsi:type="dcterms:W3CDTF">2026-09-27T07:14:33Z</dcterms:modified>
</cp:coreProperties>
</file>