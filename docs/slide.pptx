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595CA-A228-47EE-B499-41A3ED4A3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18C12-EC46-44EF-8BAE-CAFB8E68348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87400" y="11557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100" b="1">
                <a:solidFill>
                  <a:srgbClr val="22252A"/>
                </a:solidFill>
                <a:latin typeface="Segoe UI" panose="020B0502040204020203" pitchFamily="34" charset="0"/>
              </a:rPr>
              <a:t>XÂY DỰNG HỆ THỐNG
DỰ ĐOÁN CHẤT LƯỢNG
RƯỢU VANG</a:t>
            </a:r>
            <a:endParaRPr lang="en-US" sz="31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8128000" y="1343024"/>
            <a:ext cx="3175000" cy="38639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509000" y="1739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716B66"/>
                </a:solidFill>
                <a:latin typeface="Segoe UI" panose="020B0502040204020203" pitchFamily="34" charset="0"/>
              </a:rPr>
              <a:t>Môn học</a:t>
            </a:r>
            <a:endParaRPr lang="en-US" sz="100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9000" y="2032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22252A"/>
                </a:solidFill>
                <a:latin typeface="Segoe UI" panose="020B0502040204020203" pitchFamily="34" charset="0"/>
              </a:rPr>
              <a:t>Học máy cơ bản
(Machine Learning)</a:t>
            </a:r>
            <a:endParaRPr lang="en-US" sz="1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8509000" y="2819400"/>
            <a:ext cx="2413000" cy="0"/>
          </a:xfrm>
          <a:prstGeom prst="straightConnector1">
            <a:avLst/>
          </a:prstGeom>
          <a:ln w="10160">
            <a:solidFill>
              <a:srgbClr val="DDD8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9000" y="30607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716B66"/>
                </a:solidFill>
                <a:latin typeface="Segoe UI" panose="020B0502040204020203" pitchFamily="34" charset="0"/>
              </a:rPr>
              <a:t>Nhóm sinh viên</a:t>
            </a:r>
            <a:endParaRPr lang="en-US" sz="100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9000" y="33528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2252A"/>
                </a:solidFill>
                <a:latin typeface="Segoe UI" panose="020B0502040204020203" pitchFamily="34" charset="0"/>
              </a:rPr>
              <a:t>Nguyễn Văn Vũ — 12523093
Nguyễn Văn Linh — 10123207</a:t>
            </a:r>
            <a:endParaRPr lang="en-US" sz="140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509000" y="4203700"/>
            <a:ext cx="2413000" cy="0"/>
          </a:xfrm>
          <a:prstGeom prst="straightConnector1">
            <a:avLst/>
          </a:prstGeom>
          <a:ln w="10160">
            <a:solidFill>
              <a:srgbClr val="DDD8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09000" y="4445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000" b="1">
                <a:solidFill>
                  <a:srgbClr val="716B66"/>
                </a:solidFill>
                <a:latin typeface="Segoe UI" panose="020B0502040204020203" pitchFamily="34" charset="0"/>
              </a:rPr>
              <a:t>Giảng viên hướng dẫn</a:t>
            </a:r>
            <a:endParaRPr lang="en-US" sz="100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9000" y="4749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[Nguy</a:t>
            </a:r>
            <a:r>
              <a:rPr lang="en-US" alt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ễn Tuấn Anh </a:t>
            </a:r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]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500" y="6019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200" b="1" dirty="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800" b="1">
                <a:solidFill>
                  <a:srgbClr val="22252A"/>
                </a:solidFill>
                <a:latin typeface="Segoe UI" panose="020B0502040204020203" pitchFamily="34" charset="0"/>
              </a:rPr>
              <a:t>Vì sao cần dự đoán chất lượng rượu vang?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GIỚI THIỆU ĐỀ TÀI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2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76400"/>
            <a:ext cx="5207000" cy="172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9000" y="1930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BỐI CẢNH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9000" y="23368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550">
                <a:solidFill>
                  <a:srgbClr val="22252A"/>
                </a:solidFill>
                <a:latin typeface="Segoe UI" panose="020B0502040204020203" pitchFamily="34" charset="0"/>
              </a:rPr>
              <a:t>Đánh giá cảm quan cần chuyên gia, tốn thời gian và kết quả có thể khác nhau giữa người chấm.</a:t>
            </a:r>
            <a:endParaRPr lang="en-US" sz="15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6375400" y="1676400"/>
            <a:ext cx="5207000" cy="17272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654800" y="1930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MỤC TIÊU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54800" y="23368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550">
                <a:solidFill>
                  <a:srgbClr val="22252A"/>
                </a:solidFill>
                <a:latin typeface="Segoe UI" panose="020B0502040204020203" pitchFamily="34" charset="0"/>
              </a:rPr>
              <a:t>Khai thác dữ liệu hóa lý để ước lượng quality, hỗ trợ sàng lọc mẫu nhanh và nhất quán.</a:t>
            </a:r>
            <a:endParaRPr lang="en-US" sz="15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09600" y="3721100"/>
            <a:ext cx="5207000" cy="172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89000" y="39751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CÁCH TIẾP CẬN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9000" y="43815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>
                <a:solidFill>
                  <a:srgbClr val="22252A"/>
                </a:solidFill>
                <a:latin typeface="Segoe UI" panose="020B0502040204020203" pitchFamily="34" charset="0"/>
              </a:rPr>
              <a:t>Phân tích EDA → so sánh 4 thuật toán hồi quy → tinh chỉnh → triển khai thành hệ thống dự đoán.</a:t>
            </a:r>
            <a:endParaRPr lang="en-US" sz="15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6375400" y="3721100"/>
            <a:ext cx="5207000" cy="172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654800" y="39751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PHẠM VI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54800" y="43815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550">
                <a:solidFill>
                  <a:srgbClr val="22252A"/>
                </a:solidFill>
                <a:latin typeface="Segoe UI" panose="020B0502040204020203" pitchFamily="34" charset="0"/>
              </a:rPr>
              <a:t>Tập trung vào rượu vang đỏ Vinho Verde. Mô hình hỗ trợ quyết định, không thay thế chuyên gia cảm quan.</a:t>
            </a:r>
            <a:endParaRPr lang="en-US" sz="15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5842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00" dirty="0">
                <a:solidFill>
                  <a:srgbClr val="716B66"/>
                </a:solidFill>
                <a:latin typeface="Segoe UI" panose="020B0502040204020203" pitchFamily="34" charset="0"/>
              </a:rPr>
              <a:t>Bài toán được xây dựng như một hệ thống hỗ trợ kiểm soát chất lượng dựa trên dữ liệu.</a:t>
            </a:r>
            <a:endParaRPr lang="en-US" sz="1400" dirty="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Dataset: nguồn gốc và ý nghĩa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RED WINE QUALITY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3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12900"/>
            <a:ext cx="3835400" cy="41783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19177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NGUỒN DỮ LIỆU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3368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2252A"/>
                </a:solidFill>
                <a:latin typeface="Segoe UI" panose="020B0502040204020203" pitchFamily="34" charset="0"/>
              </a:rPr>
              <a:t>UCI Machine Learning
Repository</a:t>
            </a:r>
            <a:endParaRPr lang="en-US" sz="22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263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Wine Quality Dataset
Cortez và cộng sự, 2009
Rượu vang Vinho Verde — Bồ Đào Nha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914400" y="4584700"/>
            <a:ext cx="3225800" cy="0"/>
          </a:xfrm>
          <a:prstGeom prst="straightConnector1">
            <a:avLst/>
          </a:prstGeom>
          <a:ln w="10160">
            <a:solidFill>
              <a:srgbClr val="DDD8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8133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716B66"/>
                </a:solidFill>
                <a:latin typeface="Segoe UI" panose="020B0502040204020203" pitchFamily="34" charset="0"/>
              </a:rPr>
              <a:t>DOI: 10.24432/C56S3T</a:t>
            </a:r>
            <a:endParaRPr lang="en-US" sz="11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2197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150">
                <a:solidFill>
                  <a:srgbClr val="716B66"/>
                </a:solidFill>
                <a:latin typeface="Segoe UI" panose="020B0502040204020203" pitchFamily="34" charset="0"/>
              </a:rPr>
              <a:t>Nguồn công khai, thường dùng cho bài toán hồi quy và phân loại chất lượng rượu.</a:t>
            </a:r>
            <a:endParaRPr lang="en-US" sz="11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4800600" y="1612900"/>
            <a:ext cx="6781800" cy="4178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105400" y="1917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MÔ TẢ DATASET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400" y="24130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20">
                <a:solidFill>
                  <a:srgbClr val="22252A"/>
                </a:solidFill>
                <a:latin typeface="Segoe UI" panose="020B0502040204020203" pitchFamily="34" charset="0"/>
              </a:rPr>
              <a:t>•  1.599 mẫu ban đầu, 12 cột: 11 thuộc tính hóa lý và 1 biến quality.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5400" y="3136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20">
                <a:solidFill>
                  <a:srgbClr val="22252A"/>
                </a:solidFill>
                <a:latin typeface="Segoe UI" panose="020B0502040204020203" pitchFamily="34" charset="0"/>
              </a:rPr>
              <a:t>•  Các thuộc tính được đo trong phòng thí nghiệm; quality là điểm cảm quan từ 3 đến 8.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5400" y="38608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20">
                <a:solidFill>
                  <a:srgbClr val="22252A"/>
                </a:solidFill>
                <a:latin typeface="Segoe UI" panose="020B0502040204020203" pitchFamily="34" charset="0"/>
              </a:rPr>
              <a:t>•  Dữ liệu gốc không thiếu giá trị; loại 240 dòng trùng còn 1.359 mẫu.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5400" y="45847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20">
                <a:solidFill>
                  <a:srgbClr val="22252A"/>
                </a:solidFill>
                <a:latin typeface="Segoe UI" panose="020B0502040204020203" pitchFamily="34" charset="0"/>
              </a:rPr>
              <a:t>•  Quality mang yếu tố chủ quan, nên cùng thông số hóa lý vẫn có thể nhận điểm khác nhau.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800" b="1">
                <a:solidFill>
                  <a:srgbClr val="22252A"/>
                </a:solidFill>
                <a:latin typeface="Segoe UI" panose="020B0502040204020203" pitchFamily="34" charset="0"/>
              </a:rPr>
              <a:t>Phân bố điểm chất lượng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EDA 01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4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558800" y="1536700"/>
            <a:ext cx="7848600" cy="444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97" y="1587500"/>
            <a:ext cx="7015806" cy="434340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763000" y="1587500"/>
            <a:ext cx="28194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67800" y="23876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Mỗi cột biểu diễn số mẫu ở một mức quality trên dữ liệu ban đầu.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67800" y="3454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Điểm 5 và 6 chiếm phần lớn; điểm 3 và 8 chỉ có rất ít mẫu.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67800" y="45212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Dữ liệu mất cân bằng nên kết quả dễ bị chi phối bởi nhóm 5–6; cần chú ý nhóm hiếm.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Phân bố nồng độ cồn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EDA 02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5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558800" y="1536700"/>
            <a:ext cx="7848600" cy="444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97" y="1587500"/>
            <a:ext cx="7015806" cy="434340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763000" y="1587500"/>
            <a:ext cx="28194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067800" y="19177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000" b="1" dirty="0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67800" y="23876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Histogram cho biết tần suất; đường cong thể hiện xu hướng phân bố.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67800" y="3454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Phần lớn mẫu nằm khoảng 9–11% alcohol; đuôi phải kéo dài đến 14,9%.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67800" y="45212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Phân bố lệch và khác thang đo, vì vậy Linear/Ridge cần dữ liệu được chuẩn hóa.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Alcohol và quality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EDA 03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6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558800" y="1536700"/>
            <a:ext cx="7848600" cy="444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16" y="1587500"/>
            <a:ext cx="7018768" cy="434340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763000" y="1587500"/>
            <a:ext cx="28194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67800" y="23876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Đường giữa hộp là trung vị; hộp mô tả 50% dữ liệu trung tâm.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67800" y="3454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Trung vị alcohol tăng rõ ở nhóm quality 7–8, cho thấy quan hệ dương.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67800" y="45212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Các hộp vẫn chồng lấn và có ngoại lai; không thể dự đoán chỉ bằng alcohol.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Volatile acidity và quality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EDA 04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7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558800" y="1536700"/>
            <a:ext cx="7848600" cy="444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34" y="1587500"/>
            <a:ext cx="7021731" cy="434340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763000" y="1587500"/>
            <a:ext cx="28194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67800" y="23876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80">
                <a:solidFill>
                  <a:srgbClr val="22252A"/>
                </a:solidFill>
                <a:latin typeface="Segoe UI" panose="020B0502040204020203" pitchFamily="34" charset="0"/>
              </a:rPr>
              <a:t>•  Trung vị volatile acidity giảm dần khi quality tăng từ 3 lên 8.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67800" y="3454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Axit bay hơi cao thường gắn với đánh giá chất lượng thấp hơn.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67800" y="45212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80">
                <a:solidFill>
                  <a:srgbClr val="22252A"/>
                </a:solidFill>
                <a:latin typeface="Segoe UI" panose="020B0502040204020203" pitchFamily="34" charset="0"/>
              </a:rPr>
              <a:t>•  Quan hệ nghịch khá rõ nhưng vẫn có chồng lấn và ngoại lai giữa các nhóm.</a:t>
            </a:r>
            <a:endParaRPr lang="en-US" sz="13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800" b="1">
                <a:solidFill>
                  <a:srgbClr val="22252A"/>
                </a:solidFill>
                <a:latin typeface="Segoe UI" panose="020B0502040204020203" pitchFamily="34" charset="0"/>
              </a:rPr>
              <a:t>Ma trận tương quan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EDA 05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8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558800" y="1460500"/>
            <a:ext cx="7975600" cy="467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41" y="1511300"/>
            <a:ext cx="6432518" cy="457200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813800" y="1587500"/>
            <a:ext cx="27686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118600" y="23876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22252A"/>
                </a:solidFill>
                <a:latin typeface="Segoe UI" panose="020B0502040204020203" pitchFamily="34" charset="0"/>
              </a:rPr>
              <a:t>•  Màu và hệ số r cho biết chiều, mức độ liên hệ tuyến tính giữa hai biến.</a:t>
            </a:r>
            <a:endParaRPr lang="en-US" sz="13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18600" y="34544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50">
                <a:solidFill>
                  <a:srgbClr val="22252A"/>
                </a:solidFill>
                <a:latin typeface="Segoe UI" panose="020B0502040204020203" pitchFamily="34" charset="0"/>
              </a:rPr>
              <a:t>•  Quality tương quan dương với alcohol (0,48) và âm với volatile acidity (−0,39).</a:t>
            </a:r>
            <a:endParaRPr lang="en-US" sz="13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18600" y="4521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50">
                <a:solidFill>
                  <a:srgbClr val="22252A"/>
                </a:solidFill>
                <a:latin typeface="Segoe UI" panose="020B0502040204020203" pitchFamily="34" charset="0"/>
              </a:rPr>
              <a:t>•  Các đặc trưng cũng liên hệ lẫn nhau; tương quan không đồng nghĩa quan hệ nhân quả.</a:t>
            </a:r>
            <a:endParaRPr lang="en-US" sz="13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Tiền xử lý và ngăn ngừa data leakage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DATA PREPROCESSING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9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76400"/>
            <a:ext cx="33528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2800" y="1854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01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0000" y="18288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Làm sạch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2800" y="2247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30">
                <a:solidFill>
                  <a:srgbClr val="716B66"/>
                </a:solidFill>
                <a:latin typeface="Segoe UI" panose="020B0502040204020203" pitchFamily="34" charset="0"/>
              </a:rPr>
              <a:t>Kiểm tra kiểu dữ liệu và missing: 0 giá trị thiếu.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4267200" y="1676400"/>
            <a:ext cx="33528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70400" y="1854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02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27600" y="18288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Loại trùng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0400" y="2247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30">
                <a:solidFill>
                  <a:srgbClr val="716B66"/>
                </a:solidFill>
                <a:latin typeface="Segoe UI" panose="020B0502040204020203" pitchFamily="34" charset="0"/>
              </a:rPr>
              <a:t>Xóa 240 dòng trùng; giữ ngoại lai hợp lệ.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7924800" y="1676400"/>
            <a:ext cx="33528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128000" y="18542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03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85200" y="18288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Tách biến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8000" y="2247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230">
                <a:solidFill>
                  <a:srgbClr val="716B66"/>
                </a:solidFill>
                <a:latin typeface="Segoe UI" panose="020B0502040204020203" pitchFamily="34" charset="0"/>
              </a:rPr>
              <a:t>X gồm 11 features; y là quality.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09600" y="3149600"/>
            <a:ext cx="33528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0" y="3327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04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70000" y="33020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Chia dữ liệu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2800" y="37211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30">
                <a:solidFill>
                  <a:srgbClr val="716B66"/>
                </a:solidFill>
                <a:latin typeface="Segoe UI" panose="020B0502040204020203" pitchFamily="34" charset="0"/>
              </a:rPr>
              <a:t>80/20: train 1.087, test 272; seed 42.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4267200" y="3149600"/>
            <a:ext cx="3352800" cy="12192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470400" y="3327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05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7600" y="33020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Fit pipeline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70400" y="37211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230">
                <a:solidFill>
                  <a:srgbClr val="716B66"/>
                </a:solidFill>
                <a:latin typeface="Segoe UI" panose="020B0502040204020203" pitchFamily="34" charset="0"/>
              </a:rPr>
              <a:t>Median imputer + scaler chỉ fit trên train.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7924800" y="3149600"/>
            <a:ext cx="33528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128000" y="3327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06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85200" y="33020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2252A"/>
                </a:solidFill>
                <a:latin typeface="Segoe UI" panose="020B0502040204020203" pitchFamily="34" charset="0"/>
              </a:rPr>
              <a:t>Đánh giá</a:t>
            </a:r>
            <a:endParaRPr lang="en-US" sz="16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28000" y="37211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30">
                <a:solidFill>
                  <a:srgbClr val="716B66"/>
                </a:solidFill>
                <a:latin typeface="Segoe UI" panose="020B0502040204020203" pitchFamily="34" charset="0"/>
              </a:rPr>
              <a:t>CV/tuning trên train; test chỉ dùng một lần cuối.</a:t>
            </a:r>
            <a:endParaRPr lang="en-US" sz="123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609600" y="4826000"/>
            <a:ext cx="10668000" cy="9144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890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CHỐNG DATA LEAKAGE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9000" y="5334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 b="1">
                <a:solidFill>
                  <a:srgbClr val="22252A"/>
                </a:solidFill>
                <a:latin typeface="Segoe UI" panose="020B0502040204020203" pitchFamily="34" charset="0"/>
              </a:rPr>
              <a:t>Chia train/test trước khi học tham số tiền xử lý. Test không tham gia fit scaler, imputer hay lựa chọn siêu tham số.</a:t>
            </a:r>
            <a:endParaRPr lang="en-US" sz="14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9600" y="5943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Nhờ pipeline, cùng một quy trình biến đổi được áp dụng nhất quán khi huấn luyện và dự đoán thực tế.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Hai mô hình tuyến tính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MÔ HÌNH 01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10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12900"/>
            <a:ext cx="5143500" cy="454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9000" y="1892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LINEAR REGRESSION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9000" y="2260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22252A"/>
                </a:solidFill>
                <a:latin typeface="Segoe UI" panose="020B0502040204020203" pitchFamily="34" charset="0"/>
              </a:rPr>
              <a:t>Khớp một quan hệ tuyến tính</a:t>
            </a:r>
            <a:endParaRPr lang="en-US" sz="20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889000" y="2768600"/>
            <a:ext cx="4572000" cy="12446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244600" y="3784600"/>
            <a:ext cx="3987800" cy="0"/>
          </a:xfrm>
          <a:prstGeom prst="straightConnector1">
            <a:avLst/>
          </a:prstGeom>
          <a:ln w="1270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244600" y="2959100"/>
            <a:ext cx="0" cy="825500"/>
          </a:xfrm>
          <a:prstGeom prst="straightConnector1">
            <a:avLst/>
          </a:prstGeom>
          <a:ln w="1270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98600" y="35560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879600" y="34417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286000" y="33782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705100" y="32004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111500" y="31623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530600" y="3022600"/>
            <a:ext cx="88900" cy="8890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422400" y="2997200"/>
            <a:ext cx="3733800" cy="647700"/>
          </a:xfrm>
          <a:prstGeom prst="straightConnector1">
            <a:avLst/>
          </a:prstGeom>
          <a:ln w="2921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11400" y="38100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vi-VN" sz="850">
                <a:solidFill>
                  <a:srgbClr val="716B66"/>
                </a:solidFill>
                <a:latin typeface="Segoe UI" panose="020B0502040204020203" pitchFamily="34" charset="0"/>
              </a:rPr>
              <a:t>đường hồi quy phù hợp dữ liệu</a:t>
            </a:r>
            <a:endParaRPr lang="en-US" sz="8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9000" y="42291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716B66"/>
                </a:solidFill>
                <a:latin typeface="Segoe UI" panose="020B0502040204020203" pitchFamily="34" charset="0"/>
              </a:rPr>
              <a:t>NGUYÊN LÝ</a:t>
            </a:r>
            <a:endParaRPr lang="en-US" sz="9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000" y="4495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20">
                <a:solidFill>
                  <a:srgbClr val="22252A"/>
                </a:solidFill>
                <a:latin typeface="Segoe UI" panose="020B0502040204020203" pitchFamily="34" charset="0"/>
              </a:rPr>
              <a:t>Tìm bộ hệ số làm tổng sai số bình phương giữa dự đoán và thực tế nhỏ nhất.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9000" y="5334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8C3B47"/>
                </a:solidFill>
                <a:latin typeface="Segoe UI" panose="020B0502040204020203" pitchFamily="34" charset="0"/>
              </a:rPr>
              <a:t>Dễ giải thích và chạy nhanh; hạn chế khi quan hệ phi tuyến.</a:t>
            </a:r>
            <a:endParaRPr lang="en-US" sz="13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6438900" y="1612900"/>
            <a:ext cx="5143500" cy="454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718300" y="1892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RIDGE REGRESSION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18300" y="2260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22252A"/>
                </a:solidFill>
                <a:latin typeface="Segoe UI" panose="020B0502040204020203" pitchFamily="34" charset="0"/>
              </a:rPr>
              <a:t>Tuyến tính có điều chuẩn L2</a:t>
            </a:r>
            <a:endParaRPr lang="en-US" sz="20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6718300" y="2768600"/>
            <a:ext cx="4572000" cy="12446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946900" y="28956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Hệ số ban đầu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74100" y="28956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8C3B47"/>
                </a:solidFill>
                <a:latin typeface="Segoe UI" panose="020B0502040204020203" pitchFamily="34" charset="0"/>
              </a:rPr>
              <a:t>Sau phạt L2</a:t>
            </a:r>
            <a:endParaRPr lang="en-US" sz="8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72300" y="3149600"/>
            <a:ext cx="177800" cy="660400"/>
          </a:xfrm>
          <a:prstGeom prst="rect">
            <a:avLst/>
          </a:prstGeom>
          <a:solidFill>
            <a:srgbClr val="716B66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686800" y="3416300"/>
            <a:ext cx="177800" cy="3937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264400" y="3327400"/>
            <a:ext cx="177800" cy="482600"/>
          </a:xfrm>
          <a:prstGeom prst="rect">
            <a:avLst/>
          </a:prstGeom>
          <a:solidFill>
            <a:srgbClr val="716B66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78900" y="3505200"/>
            <a:ext cx="177800" cy="304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556500" y="3009900"/>
            <a:ext cx="177800" cy="800100"/>
          </a:xfrm>
          <a:prstGeom prst="rect">
            <a:avLst/>
          </a:prstGeom>
          <a:solidFill>
            <a:srgbClr val="716B66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9271000" y="3352800"/>
            <a:ext cx="177800" cy="4572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848600" y="3441700"/>
            <a:ext cx="177800" cy="368300"/>
          </a:xfrm>
          <a:prstGeom prst="rect">
            <a:avLst/>
          </a:prstGeom>
          <a:solidFill>
            <a:srgbClr val="716B66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563100" y="3568700"/>
            <a:ext cx="177800" cy="2413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8267700" y="3403600"/>
            <a:ext cx="2921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851900" y="38227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716B66"/>
                </a:solidFill>
                <a:latin typeface="Segoe UI" panose="020B0502040204020203" pitchFamily="34" charset="0"/>
              </a:rPr>
              <a:t>co nhỏ hệ số</a:t>
            </a:r>
            <a:endParaRPr lang="en-US" sz="8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18300" y="42291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716B66"/>
                </a:solidFill>
                <a:latin typeface="Segoe UI" panose="020B0502040204020203" pitchFamily="34" charset="0"/>
              </a:rPr>
              <a:t>NGUYÊN LÝ</a:t>
            </a:r>
            <a:endParaRPr lang="en-US" sz="9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18300" y="4495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20">
                <a:solidFill>
                  <a:srgbClr val="22252A"/>
                </a:solidFill>
                <a:latin typeface="Segoe UI" panose="020B0502040204020203" pitchFamily="34" charset="0"/>
              </a:rPr>
              <a:t>Thêm phạt L2 để co nhỏ hệ số, giảm việc mô hình phụ thuộc quá mạnh vào một đặc trưng.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18300" y="5334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00" b="1">
                <a:solidFill>
                  <a:srgbClr val="8C3B47"/>
                </a:solidFill>
                <a:latin typeface="Segoe UI" panose="020B0502040204020203" pitchFamily="34" charset="0"/>
              </a:rPr>
              <a:t>Ổn định hơn khi các biến tương quan; alpha quyết định mức phạt.</a:t>
            </a:r>
            <a:endParaRPr lang="en-US" sz="13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Hai mô hình tổ hợp cây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MÔ HÌNH 02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11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12900"/>
            <a:ext cx="5143500" cy="454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9000" y="1892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RANDOM FOREST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9000" y="2260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22252A"/>
                </a:solidFill>
                <a:latin typeface="Segoe UI" panose="020B0502040204020203" pitchFamily="34" charset="0"/>
              </a:rPr>
              <a:t>Nhiều cây học song song</a:t>
            </a:r>
            <a:endParaRPr lang="en-US" sz="20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889000" y="2768600"/>
            <a:ext cx="4572000" cy="12446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498600" y="3022600"/>
            <a:ext cx="148590" cy="14859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361440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572895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29286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71577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311400" y="3022600"/>
            <a:ext cx="148590" cy="14859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174240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385695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10566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2857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124200" y="3022600"/>
            <a:ext cx="148590" cy="14859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987040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98495" y="3171190"/>
            <a:ext cx="211455" cy="20574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1846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341370" y="33426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778000" y="3594100"/>
            <a:ext cx="711200" cy="139700"/>
          </a:xfrm>
          <a:prstGeom prst="straightConnector1">
            <a:avLst/>
          </a:prstGeom>
          <a:ln w="1270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590800" y="3594100"/>
            <a:ext cx="0" cy="139700"/>
          </a:xfrm>
          <a:prstGeom prst="straightConnector1">
            <a:avLst/>
          </a:prstGeom>
          <a:ln w="1270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692400" y="3594100"/>
            <a:ext cx="711200" cy="139700"/>
          </a:xfrm>
          <a:prstGeom prst="straightConnector1">
            <a:avLst/>
          </a:prstGeom>
          <a:ln w="1270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59000" y="37084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00" b="1">
                <a:solidFill>
                  <a:srgbClr val="8C3B47"/>
                </a:solidFill>
                <a:latin typeface="Segoe UI" panose="020B0502040204020203" pitchFamily="34" charset="0"/>
              </a:rPr>
              <a:t>TRUNG BÌNH</a:t>
            </a:r>
            <a:endParaRPr lang="en-US" sz="9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9000" y="42291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716B66"/>
                </a:solidFill>
                <a:latin typeface="Segoe UI" panose="020B0502040204020203" pitchFamily="34" charset="0"/>
              </a:rPr>
              <a:t>NGUYÊN LÝ</a:t>
            </a:r>
            <a:endParaRPr lang="en-US" sz="9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9000" y="4495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20">
                <a:solidFill>
                  <a:srgbClr val="22252A"/>
                </a:solidFill>
                <a:latin typeface="Segoe UI" panose="020B0502040204020203" pitchFamily="34" charset="0"/>
              </a:rPr>
              <a:t>Mỗi cây học trên mẫu và tập đặc trưng ngẫu nhiên; kết quả cuối là trung bình dự đoán.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9000" y="5334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00" b="1">
                <a:solidFill>
                  <a:srgbClr val="8C3B47"/>
                </a:solidFill>
                <a:latin typeface="Segoe UI" panose="020B0502040204020203" pitchFamily="34" charset="0"/>
              </a:rPr>
              <a:t>Giảm phương sai, học tốt quan hệ phi tuyến và tương tác giữa biến.</a:t>
            </a:r>
            <a:endParaRPr lang="en-US" sz="13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6438900" y="1612900"/>
            <a:ext cx="5143500" cy="454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718300" y="1892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GRADIENT BOOSTING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18300" y="2260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22252A"/>
                </a:solidFill>
                <a:latin typeface="Segoe UI" panose="020B0502040204020203" pitchFamily="34" charset="0"/>
              </a:rPr>
              <a:t>Các cây sửa sai số tuần tự</a:t>
            </a:r>
            <a:endParaRPr lang="en-US" sz="20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6718300" y="2768600"/>
            <a:ext cx="4572000" cy="12446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7162800" y="3048000"/>
            <a:ext cx="132080" cy="132080"/>
          </a:xfrm>
          <a:prstGeom prst="ellipse">
            <a:avLst/>
          </a:prstGeom>
          <a:solidFill>
            <a:srgbClr val="716B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7040880" y="3180080"/>
            <a:ext cx="187960" cy="182880"/>
          </a:xfrm>
          <a:prstGeom prst="straightConnector1">
            <a:avLst/>
          </a:prstGeom>
          <a:ln w="1524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7228840" y="3180080"/>
            <a:ext cx="187960" cy="182880"/>
          </a:xfrm>
          <a:prstGeom prst="straightConnector1">
            <a:avLst/>
          </a:prstGeom>
          <a:ln w="15240">
            <a:solidFill>
              <a:srgbClr val="716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79920" y="3332480"/>
            <a:ext cx="121919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16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355840" y="3332480"/>
            <a:ext cx="121920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16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670800" y="3340100"/>
            <a:ext cx="304800" cy="0"/>
          </a:xfrm>
          <a:prstGeom prst="straightConnector1">
            <a:avLst/>
          </a:prstGeom>
          <a:ln w="2032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191500" y="3048000"/>
            <a:ext cx="132080" cy="13208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8069580" y="3180080"/>
            <a:ext cx="187960" cy="18288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257540" y="3180080"/>
            <a:ext cx="187960" cy="18288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008620" y="3332480"/>
            <a:ext cx="121919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384540" y="3332480"/>
            <a:ext cx="121920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8699500" y="3340100"/>
            <a:ext cx="304800" cy="0"/>
          </a:xfrm>
          <a:prstGeom prst="straightConnector1">
            <a:avLst/>
          </a:prstGeom>
          <a:ln w="2032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220200" y="3048000"/>
            <a:ext cx="132080" cy="132080"/>
          </a:xfrm>
          <a:prstGeom prst="ellipse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9098280" y="3180080"/>
            <a:ext cx="187960" cy="18288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9286240" y="3180080"/>
            <a:ext cx="187960" cy="182880"/>
          </a:xfrm>
          <a:prstGeom prst="straightConnector1">
            <a:avLst/>
          </a:prstGeom>
          <a:ln w="152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037320" y="3332480"/>
            <a:ext cx="121919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9413240" y="3332480"/>
            <a:ext cx="121920" cy="121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7404100" y="36957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80">
                <a:solidFill>
                  <a:srgbClr val="716B66"/>
                </a:solidFill>
                <a:latin typeface="Segoe UI" panose="020B0502040204020203" pitchFamily="34" charset="0"/>
              </a:rPr>
              <a:t>mỗi cây sửa phần sai số còn lại</a:t>
            </a:r>
            <a:endParaRPr lang="en-US" sz="88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718300" y="42291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716B66"/>
                </a:solidFill>
                <a:latin typeface="Segoe UI" panose="020B0502040204020203" pitchFamily="34" charset="0"/>
              </a:rPr>
              <a:t>NGUYÊN LÝ</a:t>
            </a:r>
            <a:endParaRPr lang="en-US" sz="9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18300" y="4495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20">
                <a:solidFill>
                  <a:srgbClr val="22252A"/>
                </a:solidFill>
                <a:latin typeface="Segoe UI" panose="020B0502040204020203" pitchFamily="34" charset="0"/>
              </a:rPr>
              <a:t>Cây sau học phần sai số của tổ hợp trước; dự đoán cuối là tổng có trọng số của các cây.</a:t>
            </a:r>
            <a:endParaRPr lang="en-US" sz="142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18300" y="5334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00" b="1">
                <a:solidFill>
                  <a:srgbClr val="8C3B47"/>
                </a:solidFill>
                <a:latin typeface="Segoe UI" panose="020B0502040204020203" pitchFamily="34" charset="0"/>
              </a:rPr>
              <a:t>Chính xác cao nhưng nhạy với learning rate, độ sâu và overfit.</a:t>
            </a:r>
            <a:endParaRPr lang="en-US" sz="13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Cross Validation và tuning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MODEL SELECTION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12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51000"/>
            <a:ext cx="6477000" cy="408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1943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5-FOLD CROSS VALIDATION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4384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716B66"/>
                </a:solidFill>
                <a:latin typeface="Segoe UI" panose="020B0502040204020203" pitchFamily="34" charset="0"/>
              </a:rPr>
              <a:t>Fold 1</a:t>
            </a:r>
            <a:endParaRPr lang="en-US" sz="10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1739900" y="2387600"/>
            <a:ext cx="736600" cy="330200"/>
          </a:xfrm>
          <a:prstGeom prst="round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39900" y="2387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VAL</a:t>
            </a:r>
            <a:endParaRPr lang="en-US" sz="8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2628900" y="23876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28900" y="2387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3517900" y="23876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517900" y="2387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4406900" y="23876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06900" y="2387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5295900" y="23876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295900" y="2387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716B66"/>
                </a:solidFill>
                <a:latin typeface="Segoe UI" panose="020B0502040204020203" pitchFamily="34" charset="0"/>
              </a:rPr>
              <a:t>Fold 2</a:t>
            </a:r>
            <a:endParaRPr lang="en-US" sz="10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1739900" y="29210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739900" y="29210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2628900" y="2921000"/>
            <a:ext cx="736600" cy="330200"/>
          </a:xfrm>
          <a:prstGeom prst="round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628900" y="29210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VAL</a:t>
            </a:r>
            <a:endParaRPr lang="en-US" sz="8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3517900" y="29210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517900" y="29210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4406900" y="29210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406900" y="29210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5295900" y="29210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295900" y="29210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35052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716B66"/>
                </a:solidFill>
                <a:latin typeface="Segoe UI" panose="020B0502040204020203" pitchFamily="34" charset="0"/>
              </a:rPr>
              <a:t>Fold 3</a:t>
            </a:r>
            <a:endParaRPr lang="en-US" sz="10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1739900" y="34544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739900" y="3454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2628900" y="34544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628900" y="3454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3517900" y="3454400"/>
            <a:ext cx="736600" cy="330200"/>
          </a:xfrm>
          <a:prstGeom prst="round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517900" y="3454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VAL</a:t>
            </a:r>
            <a:endParaRPr lang="en-US" sz="8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4406900" y="34544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406900" y="3454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5295900" y="34544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295900" y="3454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" y="4038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716B66"/>
                </a:solidFill>
                <a:latin typeface="Segoe UI" panose="020B0502040204020203" pitchFamily="34" charset="0"/>
              </a:rPr>
              <a:t>Fold 4</a:t>
            </a:r>
            <a:endParaRPr lang="en-US" sz="10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Rectangle: Rounded Corners 42"/>
          <p:cNvSpPr/>
          <p:nvPr/>
        </p:nvSpPr>
        <p:spPr>
          <a:xfrm>
            <a:off x="1739900" y="39878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739900" y="39878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2628900" y="39878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628900" y="39878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3517900" y="39878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517900" y="39878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4406900" y="3987800"/>
            <a:ext cx="736600" cy="330200"/>
          </a:xfrm>
          <a:prstGeom prst="round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406900" y="39878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VAL</a:t>
            </a:r>
            <a:endParaRPr lang="en-US" sz="8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5295900" y="39878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295900" y="39878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4400" y="4572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716B66"/>
                </a:solidFill>
                <a:latin typeface="Segoe UI" panose="020B0502040204020203" pitchFamily="34" charset="0"/>
              </a:rPr>
              <a:t>Fold 5</a:t>
            </a:r>
            <a:endParaRPr lang="en-US" sz="10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1739900" y="45212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739900" y="4521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2628900" y="45212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628900" y="4521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8" name="Rectangle: Rounded Corners 57"/>
          <p:cNvSpPr/>
          <p:nvPr/>
        </p:nvSpPr>
        <p:spPr>
          <a:xfrm>
            <a:off x="3517900" y="45212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3517900" y="4521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406900" y="4521200"/>
            <a:ext cx="736600" cy="330200"/>
          </a:xfrm>
          <a:prstGeom prst="roundRect">
            <a:avLst/>
          </a:prstGeom>
          <a:solidFill>
            <a:srgbClr val="F3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406900" y="4521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22252A"/>
                </a:solidFill>
                <a:latin typeface="Segoe UI" panose="020B0502040204020203" pitchFamily="34" charset="0"/>
              </a:rPr>
              <a:t>TRAIN</a:t>
            </a:r>
            <a:endParaRPr lang="en-US" sz="8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5295900" y="4521200"/>
            <a:ext cx="736600" cy="330200"/>
          </a:xfrm>
          <a:prstGeom prst="round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295900" y="4521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Segoe UI" panose="020B0502040204020203" pitchFamily="34" charset="0"/>
              </a:rPr>
              <a:t>VAL</a:t>
            </a:r>
            <a:endParaRPr lang="en-US" sz="8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14400" y="5257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00">
                <a:solidFill>
                  <a:srgbClr val="716B66"/>
                </a:solidFill>
                <a:latin typeface="Segoe UI" panose="020B0502040204020203" pitchFamily="34" charset="0"/>
              </a:rPr>
              <a:t>Mỗi mẫu được dùng để validation đúng 1 lần.</a:t>
            </a:r>
            <a:endParaRPr lang="en-US" sz="13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7493000" y="1651000"/>
            <a:ext cx="4089400" cy="40894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7835900" y="19431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TINH CHỈNH SIÊU THAM SỐ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35900" y="24130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80">
                <a:solidFill>
                  <a:srgbClr val="22252A"/>
                </a:solidFill>
                <a:latin typeface="Segoe UI" panose="020B0502040204020203" pitchFamily="34" charset="0"/>
              </a:rPr>
              <a:t>•  Mỗi cấu hình được đánh giá qua 5 fold; chọn theo CV RMSE trung bình.</a:t>
            </a:r>
            <a:endParaRPr lang="en-US" sz="12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835900" y="30353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80">
                <a:solidFill>
                  <a:srgbClr val="22252A"/>
                </a:solidFill>
                <a:latin typeface="Segoe UI" panose="020B0502040204020203" pitchFamily="34" charset="0"/>
              </a:rPr>
              <a:t>•  Ridge: alpha = 10 • CV RMSE 0,6648.</a:t>
            </a:r>
            <a:endParaRPr lang="en-US" sz="12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35900" y="36576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80">
                <a:solidFill>
                  <a:srgbClr val="22252A"/>
                </a:solidFill>
                <a:latin typeface="Segoe UI" panose="020B0502040204020203" pitchFamily="34" charset="0"/>
              </a:rPr>
              <a:t>•  Random Forest: 200 cây, depth 10 • 0,6583.</a:t>
            </a:r>
            <a:endParaRPr lang="en-US" sz="12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835900" y="42799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80">
                <a:solidFill>
                  <a:srgbClr val="22252A"/>
                </a:solidFill>
                <a:latin typeface="Segoe UI" panose="020B0502040204020203" pitchFamily="34" charset="0"/>
              </a:rPr>
              <a:t>•  Gradient Boosting: lr 0,05, depth 3, 100 cây • 0,6571.</a:t>
            </a:r>
            <a:endParaRPr lang="en-US" sz="12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835900" y="49022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80">
                <a:solidFill>
                  <a:srgbClr val="22252A"/>
                </a:solidFill>
                <a:latin typeface="Segoe UI" panose="020B0502040204020203" pitchFamily="34" charset="0"/>
              </a:rPr>
              <a:t>•  Toàn bộ tuning chỉ dùng train; test được khóa đến bước cuối.</a:t>
            </a:r>
            <a:endParaRPr lang="en-US" sz="128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Bốn góc nhìn về sai số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METRICS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31900"/>
            <a:ext cx="736600" cy="50800"/>
          </a:xfrm>
          <a:prstGeom prst="rect">
            <a:avLst/>
          </a:prstGeom>
          <a:solidFill>
            <a:srgbClr val="8C3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13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765300"/>
            <a:ext cx="2514600" cy="184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2800" y="19431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MAE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2800" y="2336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|sai số| TB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2800" y="2870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Dễ hiểu theo đơn vị điểm quality.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3352800" y="1765300"/>
            <a:ext cx="2514600" cy="184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56000" y="19431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MSE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56000" y="2336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sai số² TB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6000" y="2870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716B66"/>
                </a:solidFill>
                <a:latin typeface="Segoe UI" panose="020B0502040204020203" pitchFamily="34" charset="0"/>
              </a:rPr>
              <a:t>Phạt mạnh các dự đoán lệch nhiều.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096000" y="1765300"/>
            <a:ext cx="2514600" cy="184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99200" y="19431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RMSE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9200" y="2336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√MSE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99200" y="2870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Cùng đơn vị với quality; nhạy với sai số lớn.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8839200" y="1765300"/>
            <a:ext cx="2514600" cy="184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9042400" y="19431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R²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2400" y="2336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0 → 1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2400" y="2870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Phần biến thiên của quality được mô hình giải thích.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609600" y="4102100"/>
            <a:ext cx="10744200" cy="13335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14400" y="4381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CÁCH ĐỌC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7498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22252A"/>
                </a:solidFill>
                <a:latin typeface="Segoe UI" panose="020B0502040204020203" pitchFamily="34" charset="0"/>
              </a:rPr>
              <a:t>MAE / MSE / RMSE càng thấp càng tốt   •   R² càng cao càng tốt</a:t>
            </a:r>
            <a:endParaRPr lang="en-US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1308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716B66"/>
                </a:solidFill>
                <a:latin typeface="Segoe UI" panose="020B0502040204020203" pitchFamily="34" charset="0"/>
              </a:rPr>
              <a:t>R² là hệ số xác định — không phải accuracy.</a:t>
            </a:r>
            <a:endParaRPr lang="en-US" sz="13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Kết quả so sánh 4 mô hình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TEST SET • TRƯỚC TINH CHỈNH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09600" y="1257300"/>
            <a:ext cx="736600" cy="0"/>
          </a:xfrm>
          <a:prstGeom prst="straightConnector1">
            <a:avLst/>
          </a:prstGeom>
          <a:ln w="406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14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1765300"/>
            <a:ext cx="2159000" cy="508000"/>
          </a:xfrm>
          <a:prstGeom prst="rect">
            <a:avLst/>
          </a:prstGeom>
          <a:solidFill>
            <a:srgbClr val="8C3B47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3100" y="17907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Mô hình</a:t>
            </a:r>
            <a:endParaRPr lang="en-US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68600" y="1765300"/>
            <a:ext cx="1143000" cy="508000"/>
          </a:xfrm>
          <a:prstGeom prst="rect">
            <a:avLst/>
          </a:prstGeom>
          <a:solidFill>
            <a:srgbClr val="8C3B47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832100" y="1790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MAE</a:t>
            </a:r>
            <a:endParaRPr lang="en-US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11600" y="1765300"/>
            <a:ext cx="1143000" cy="508000"/>
          </a:xfrm>
          <a:prstGeom prst="rect">
            <a:avLst/>
          </a:prstGeom>
          <a:solidFill>
            <a:srgbClr val="8C3B47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975100" y="1790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MSE</a:t>
            </a:r>
            <a:endParaRPr lang="en-US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54600" y="1765300"/>
            <a:ext cx="1143000" cy="508000"/>
          </a:xfrm>
          <a:prstGeom prst="rect">
            <a:avLst/>
          </a:prstGeom>
          <a:solidFill>
            <a:srgbClr val="8C3B47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118100" y="1790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RMSE</a:t>
            </a:r>
            <a:endParaRPr lang="en-US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97600" y="1765300"/>
            <a:ext cx="1143000" cy="508000"/>
          </a:xfrm>
          <a:prstGeom prst="rect">
            <a:avLst/>
          </a:prstGeom>
          <a:solidFill>
            <a:srgbClr val="8C3B47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61100" y="1790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R²</a:t>
            </a:r>
            <a:endParaRPr lang="en-US" sz="11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2273300"/>
            <a:ext cx="2159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3100" y="22987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Linear Regression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68600" y="22733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832100" y="2298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0,5041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11600" y="22733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975100" y="2298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0,4310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54600" y="22733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118100" y="2298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0,6565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97600" y="22733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261100" y="2298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0,3915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" y="2933700"/>
            <a:ext cx="2159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73100" y="2959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Ridge Regression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68600" y="29337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832100" y="29591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0,5041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11600" y="29337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975100" y="29591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0,4308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54600" y="29337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118100" y="29591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0,6564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97600" y="2933700"/>
            <a:ext cx="1143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261100" y="29591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>
                <a:solidFill>
                  <a:srgbClr val="22252A"/>
                </a:solidFill>
                <a:latin typeface="Segoe UI" panose="020B0502040204020203" pitchFamily="34" charset="0"/>
              </a:rPr>
              <a:t>0,3918</a:t>
            </a:r>
            <a:endParaRPr lang="en-US" sz="11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9600" y="3594100"/>
            <a:ext cx="2159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73100" y="3619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Random Forest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68600" y="35941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2832100" y="36195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0,4682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911600" y="35941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975100" y="36195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0,3839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54600" y="35941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118100" y="36195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0,6196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7600" y="35941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261100" y="36195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0,4580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9600" y="4254500"/>
            <a:ext cx="2159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73100" y="42799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Gradient Boosting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768600" y="42545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832100" y="42799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0,4791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911600" y="42545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75100" y="42799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0,3835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54600" y="42545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118100" y="42799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0,6193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197600" y="4254500"/>
            <a:ext cx="1143000" cy="660400"/>
          </a:xfrm>
          <a:prstGeom prst="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261100" y="42799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>
                <a:solidFill>
                  <a:srgbClr val="22252A"/>
                </a:solidFill>
                <a:latin typeface="Segoe UI" panose="020B0502040204020203" pitchFamily="34" charset="0"/>
              </a:rPr>
              <a:t>0,4586</a:t>
            </a:r>
            <a:endParaRPr lang="en-US" sz="11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7848600" y="1765300"/>
            <a:ext cx="3733800" cy="314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8178800" y="2070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CÁCH ĐỌC KẾT QUẢ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78800" y="24765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30">
                <a:solidFill>
                  <a:srgbClr val="22252A"/>
                </a:solidFill>
                <a:latin typeface="Segoe UI" panose="020B0502040204020203" pitchFamily="34" charset="0"/>
              </a:rPr>
              <a:t>•  Linear và Ridge gần như tương đương, cho thấy quan hệ tuyến tính chưa đủ.</a:t>
            </a:r>
            <a:endParaRPr lang="en-US" sz="123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78800" y="3098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30">
                <a:solidFill>
                  <a:srgbClr val="22252A"/>
                </a:solidFill>
                <a:latin typeface="Segoe UI" panose="020B0502040204020203" pitchFamily="34" charset="0"/>
              </a:rPr>
              <a:t>•  Hai mô hình cây giảm RMSE từ khoảng 0,656 xuống khoảng 0,619.</a:t>
            </a:r>
            <a:endParaRPr lang="en-US" sz="123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78800" y="37211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30">
                <a:solidFill>
                  <a:srgbClr val="22252A"/>
                </a:solidFill>
                <a:latin typeface="Segoe UI" panose="020B0502040204020203" pitchFamily="34" charset="0"/>
              </a:rPr>
              <a:t>•  Random Forest tốt nhất về MAE; Gradient Boosting nhỉnh nhẹ về RMSE và R² trước tuning.</a:t>
            </a:r>
            <a:endParaRPr lang="en-US" sz="123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78800" y="43434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30">
                <a:solidFill>
                  <a:srgbClr val="22252A"/>
                </a:solidFill>
                <a:latin typeface="Segoe UI" panose="020B0502040204020203" pitchFamily="34" charset="0"/>
              </a:rPr>
              <a:t>•  Mô hình cuối được quyết định sau tuning và cân nhắc khả năng triển khai.</a:t>
            </a:r>
            <a:endParaRPr lang="en-US" sz="123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9600" y="56261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716B66"/>
                </a:solidFill>
                <a:latin typeface="Segoe UI" panose="020B0502040204020203" pitchFamily="34" charset="0"/>
              </a:rPr>
              <a:t>Nguồn: kết quả notebook huấn luyện, cùng tập test 272 mẫu.</a:t>
            </a:r>
            <a:endParaRPr lang="en-US" sz="11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800" b="1">
                <a:solidFill>
                  <a:srgbClr val="22252A"/>
                </a:solidFill>
                <a:latin typeface="Segoe UI" panose="020B0502040204020203" pitchFamily="34" charset="0"/>
              </a:rPr>
              <a:t>Mô hình được lựa chọn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FINAL MODEL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09600" y="1257300"/>
            <a:ext cx="736600" cy="0"/>
          </a:xfrm>
          <a:prstGeom prst="straightConnector1">
            <a:avLst/>
          </a:prstGeom>
          <a:ln w="406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15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676400"/>
            <a:ext cx="4495800" cy="4114800"/>
          </a:xfrm>
          <a:prstGeom prst="roundRect">
            <a:avLst/>
          </a:prstGeom>
          <a:solidFill>
            <a:srgbClr val="8C3B47"/>
          </a:solidFill>
          <a:ln w="9525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77900" y="20955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</a:rPr>
              <a:t>RANDOM FOREST
REGRESSOR</a:t>
            </a:r>
            <a:endParaRPr lang="en-US" sz="2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3251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Tuned • version 1.0.0</a:t>
            </a:r>
            <a:endParaRPr lang="en-US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990600" y="3810000"/>
            <a:ext cx="3657600" cy="0"/>
          </a:xfrm>
          <a:prstGeom prst="straightConnector1">
            <a:avLst/>
          </a:prstGeom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0600" y="4089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200 cây</a:t>
            </a:r>
            <a:endParaRPr lang="en-US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4508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max_depth = 10</a:t>
            </a:r>
            <a:endParaRPr lang="en-US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600" y="4876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min_samples_split = 2</a:t>
            </a:r>
            <a:endParaRPr lang="en-US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600" y="52451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random_state = 42</a:t>
            </a:r>
            <a:endParaRPr lang="en-US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5511800" y="1676400"/>
            <a:ext cx="1803400" cy="1676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15000" y="1854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MAE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000" y="2247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0,4689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5000" y="27813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716B66"/>
                </a:solidFill>
                <a:latin typeface="Segoe UI" panose="020B0502040204020203" pitchFamily="34" charset="0"/>
              </a:rPr>
              <a:t>Sai số tuyệt đối trung bình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7518400" y="1676400"/>
            <a:ext cx="1803400" cy="1676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721600" y="1854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MSE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21600" y="2247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0,3795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21600" y="27813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Sai số bình phương trung bình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9525000" y="1676400"/>
            <a:ext cx="1803400" cy="1676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728200" y="1854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8C3B47"/>
                </a:solidFill>
                <a:latin typeface="Segoe UI" panose="020B0502040204020203" pitchFamily="34" charset="0"/>
              </a:rPr>
              <a:t>RMSE</a:t>
            </a:r>
            <a:endParaRPr lang="en-US" sz="14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28200" y="2247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2252A"/>
                </a:solidFill>
                <a:latin typeface="Segoe UI" panose="020B0502040204020203" pitchFamily="34" charset="0"/>
              </a:rPr>
              <a:t>0,6160</a:t>
            </a:r>
            <a:endParaRPr lang="en-US" sz="25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28200" y="27813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716B66"/>
                </a:solidFill>
                <a:latin typeface="Segoe UI" panose="020B0502040204020203" pitchFamily="34" charset="0"/>
              </a:rPr>
              <a:t>Cùng đơn vị quality</a:t>
            </a:r>
            <a:endParaRPr lang="en-US" sz="12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5511800" y="3670300"/>
            <a:ext cx="5816600" cy="212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816600" y="39751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VÌ SAO CHỌN?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16600" y="43561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00">
                <a:solidFill>
                  <a:srgbClr val="22252A"/>
                </a:solidFill>
                <a:latin typeface="Segoe UI" panose="020B0502040204020203" pitchFamily="34" charset="0"/>
              </a:rPr>
              <a:t>•  Sau tuning: RMSE = 0,6160 và R² = 0,4642, tốt hơn Random Forest ban đầu.</a:t>
            </a:r>
            <a:endParaRPr lang="en-US" sz="130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16600" y="48133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2252A"/>
                </a:solidFill>
                <a:latin typeface="Segoe UI" panose="020B0502040204020203" pitchFamily="34" charset="0"/>
              </a:rPr>
              <a:t>•  MAE = 0,4689; mô hình học tốt quan hệ phi tuyến và cân bằng các metric.</a:t>
            </a:r>
            <a:endParaRPr lang="en-US" sz="130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16600" y="52705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2252A"/>
                </a:solidFill>
                <a:latin typeface="Segoe UI" panose="020B0502040204020203" pitchFamily="34" charset="0"/>
              </a:rPr>
              <a:t>•  Pipeline giúp dự đoán nhất quán; lựa chọn dựa trên độ ổn định và khả năng vận hành.</a:t>
            </a:r>
            <a:endParaRPr lang="en-US" sz="130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22252A"/>
                </a:solidFill>
                <a:latin typeface="Segoe UI" panose="020B0502040204020203" pitchFamily="34" charset="0"/>
              </a:rPr>
              <a:t>Kiến trúc hệ thống dự đoán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SYSTEM DESIGN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09600" y="1257300"/>
            <a:ext cx="736600" cy="0"/>
          </a:xfrm>
          <a:prstGeom prst="straightConnector1">
            <a:avLst/>
          </a:prstGeom>
          <a:ln w="406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16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482600" y="2197100"/>
            <a:ext cx="16002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1550" b="1">
                <a:solidFill>
                  <a:srgbClr val="22252A"/>
                </a:solidFill>
                <a:latin typeface="Segoe UI" panose="020B0502040204020203" pitchFamily="34" charset="0"/>
              </a:rPr>
              <a:t>Người dùng</a:t>
            </a:r>
            <a:endParaRPr lang="en-US" sz="15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9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716B66"/>
                </a:solidFill>
                <a:latin typeface="Segoe UI" panose="020B0502040204020203" pitchFamily="34" charset="0"/>
              </a:rPr>
              <a:t>Nhập 11 chỉ số</a:t>
            </a:r>
            <a:endParaRPr lang="en-US" sz="10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95500" y="2857500"/>
            <a:ext cx="3048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/>
          <p:cNvSpPr/>
          <p:nvPr/>
        </p:nvSpPr>
        <p:spPr>
          <a:xfrm>
            <a:off x="2425700" y="2197100"/>
            <a:ext cx="16002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5527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22252A"/>
                </a:solidFill>
                <a:latin typeface="Segoe UI" panose="020B0502040204020203" pitchFamily="34" charset="0"/>
              </a:rPr>
              <a:t>Giao diện</a:t>
            </a:r>
            <a:endParaRPr lang="en-US" sz="15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00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716B66"/>
                </a:solidFill>
                <a:latin typeface="Segoe UI" panose="020B0502040204020203" pitchFamily="34" charset="0"/>
              </a:rPr>
              <a:t>Kiểm tra biểu mẫu</a:t>
            </a:r>
            <a:endParaRPr lang="en-US" sz="10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38600" y="2857500"/>
            <a:ext cx="3048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/>
          <p:cNvSpPr/>
          <p:nvPr/>
        </p:nvSpPr>
        <p:spPr>
          <a:xfrm>
            <a:off x="4368800" y="2197100"/>
            <a:ext cx="16002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4958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22252A"/>
                </a:solidFill>
                <a:latin typeface="Segoe UI" panose="020B0502040204020203" pitchFamily="34" charset="0"/>
              </a:rPr>
              <a:t>Backend</a:t>
            </a:r>
            <a:endParaRPr lang="en-US" sz="15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31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716B66"/>
                </a:solidFill>
                <a:latin typeface="Segoe UI" panose="020B0502040204020203" pitchFamily="34" charset="0"/>
              </a:rPr>
              <a:t>API điều phối</a:t>
            </a:r>
            <a:endParaRPr lang="en-US" sz="10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981700" y="2857500"/>
            <a:ext cx="3048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/>
          <p:cNvSpPr/>
          <p:nvPr/>
        </p:nvSpPr>
        <p:spPr>
          <a:xfrm>
            <a:off x="6311900" y="2197100"/>
            <a:ext cx="16002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4389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22252A"/>
                </a:solidFill>
                <a:latin typeface="Segoe UI" panose="020B0502040204020203" pitchFamily="34" charset="0"/>
              </a:rPr>
              <a:t>AI Service</a:t>
            </a:r>
            <a:endParaRPr lang="en-US" sz="15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62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716B66"/>
                </a:solidFill>
                <a:latin typeface="Segoe UI" panose="020B0502040204020203" pitchFamily="34" charset="0"/>
              </a:rPr>
              <a:t>Thành phần dự đoán</a:t>
            </a:r>
            <a:endParaRPr lang="en-US" sz="10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924800" y="2857500"/>
            <a:ext cx="3048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/>
          <p:cNvSpPr/>
          <p:nvPr/>
        </p:nvSpPr>
        <p:spPr>
          <a:xfrm>
            <a:off x="8255000" y="2197100"/>
            <a:ext cx="16002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22252A"/>
                </a:solidFill>
                <a:latin typeface="Segoe UI" panose="020B0502040204020203" pitchFamily="34" charset="0"/>
              </a:rPr>
              <a:t>Mô hình</a:t>
            </a:r>
            <a:endParaRPr lang="en-US" sz="15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93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716B66"/>
                </a:solidFill>
                <a:latin typeface="Segoe UI" panose="020B0502040204020203" pitchFamily="34" charset="0"/>
              </a:rPr>
              <a:t>Pipeline Random Forest</a:t>
            </a:r>
            <a:endParaRPr lang="en-US" sz="105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867900" y="2857500"/>
            <a:ext cx="304800" cy="0"/>
          </a:xfrm>
          <a:prstGeom prst="straightConnector1">
            <a:avLst/>
          </a:prstGeom>
          <a:ln w="2286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/>
          <p:cNvSpPr/>
          <p:nvPr/>
        </p:nvSpPr>
        <p:spPr>
          <a:xfrm>
            <a:off x="10198100" y="2197100"/>
            <a:ext cx="1600200" cy="1320800"/>
          </a:xfrm>
          <a:prstGeom prst="roundRect">
            <a:avLst/>
          </a:prstGeom>
          <a:solidFill>
            <a:srgbClr val="8C3B47"/>
          </a:solidFill>
          <a:ln w="9525">
            <a:solidFill>
              <a:srgbClr val="8C3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0325100" y="24384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FFFFFF"/>
                </a:solidFill>
                <a:latin typeface="Segoe UI" panose="020B0502040204020203" pitchFamily="34" charset="0"/>
              </a:rPr>
              <a:t>Kết quả</a:t>
            </a:r>
            <a:endParaRPr lang="en-US" sz="15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12400" y="29083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Segoe UI" panose="020B0502040204020203" pitchFamily="34" charset="0"/>
              </a:rPr>
              <a:t>Điểm quality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699000" y="3530600"/>
            <a:ext cx="0" cy="698500"/>
          </a:xfrm>
          <a:prstGeom prst="straightConnector1">
            <a:avLst/>
          </a:prstGeom>
          <a:ln w="19050">
            <a:solidFill>
              <a:srgbClr val="8C3B4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3708400" y="4330700"/>
            <a:ext cx="1981200" cy="11176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873500" y="4546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22252A"/>
                </a:solidFill>
                <a:latin typeface="Segoe UI" panose="020B0502040204020203" pitchFamily="34" charset="0"/>
              </a:rPr>
              <a:t>Lịch sử dự đoán</a:t>
            </a:r>
            <a:endParaRPr lang="en-US" sz="13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73500" y="49784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>
                <a:solidFill>
                  <a:srgbClr val="716B66"/>
                </a:solidFill>
                <a:latin typeface="Segoe UI" panose="020B0502040204020203" pitchFamily="34" charset="0"/>
              </a:rPr>
              <a:t>MongoDB</a:t>
            </a:r>
            <a:endParaRPr lang="en-US" sz="11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6096000" y="3886200"/>
            <a:ext cx="5232400" cy="177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388100" y="4114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NỘI DUNG TRÌNH BÀY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88100" y="4470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22252A"/>
                </a:solidFill>
                <a:latin typeface="Segoe UI" panose="020B0502040204020203" pitchFamily="34" charset="0"/>
              </a:rPr>
              <a:t>•  Người dùng nhập 11 thông số; giao diện và backend kiểm tra dữ liệu.</a:t>
            </a:r>
            <a:endParaRPr lang="en-US" sz="12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88100" y="4851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22252A"/>
                </a:solidFill>
                <a:latin typeface="Segoe UI" panose="020B0502040204020203" pitchFamily="34" charset="0"/>
              </a:rPr>
              <a:t>•  Backend gọi AI Service; pipeline tự tiền xử lý rồi dự đoán quality.</a:t>
            </a:r>
            <a:endParaRPr lang="en-US" sz="12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88100" y="523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250">
                <a:solidFill>
                  <a:srgbClr val="22252A"/>
                </a:solidFill>
                <a:latin typeface="Segoe UI" panose="020B0502040204020203" pitchFamily="34" charset="0"/>
              </a:rPr>
              <a:t>•  Kết quả được trả về giao diện và có thể lưu lịch sử vào MongoDB.</a:t>
            </a:r>
            <a:endParaRPr lang="en-US" sz="12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17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800" b="1">
                <a:solidFill>
                  <a:srgbClr val="22252A"/>
                </a:solidFill>
                <a:latin typeface="Segoe UI" panose="020B0502040204020203" pitchFamily="34" charset="0"/>
              </a:rPr>
              <a:t>Kết luận và hướng phát triển</a:t>
            </a:r>
            <a:endParaRPr lang="en-US" sz="280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3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8C3B47"/>
                </a:solidFill>
                <a:latin typeface="Segoe UI" panose="020B0502040204020203" pitchFamily="34" charset="0"/>
              </a:rPr>
              <a:t>WRAP-UP</a:t>
            </a:r>
            <a:endParaRPr lang="en-US" sz="95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09600" y="1257300"/>
            <a:ext cx="736600" cy="0"/>
          </a:xfrm>
          <a:prstGeom prst="straightConnector1">
            <a:avLst/>
          </a:prstGeom>
          <a:ln w="40640">
            <a:solidFill>
              <a:srgbClr val="8C3B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66500" y="63627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716B66"/>
                </a:solidFill>
                <a:latin typeface="Segoe UI" panose="020B0502040204020203" pitchFamily="34" charset="0"/>
              </a:rPr>
              <a:t>17</a:t>
            </a:r>
            <a:endParaRPr lang="en-US" sz="1000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375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716B66"/>
                </a:solidFill>
                <a:latin typeface="Segoe UI" panose="020B0502040204020203" pitchFamily="34" charset="0"/>
              </a:rPr>
              <a:t>WINE QUALITY • MACHINE LEARNING</a:t>
            </a:r>
            <a:endParaRPr lang="en-US" sz="850" b="1">
              <a:solidFill>
                <a:srgbClr val="716B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609600" y="1739900"/>
            <a:ext cx="3352800" cy="393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KẾT LUẬN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552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EDA cho thấy alcohol liên hệ dương, volatile acidity liên hệ âm với quality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2131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Mô hình cây vượt hai mô hình tuyến tính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Random Forest tuned được chọn từ kết quả thực tế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5339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22252A"/>
                </a:solidFill>
                <a:latin typeface="Segoe UI" panose="020B0502040204020203" pitchFamily="34" charset="0"/>
              </a:rPr>
              <a:t>•  Đã tích hợp mô hình vào hệ thống dự đoán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4419600" y="1739900"/>
            <a:ext cx="3352800" cy="3937000"/>
          </a:xfrm>
          <a:prstGeom prst="roundRect">
            <a:avLst/>
          </a:prstGeom>
          <a:solidFill>
            <a:srgbClr val="F8F2F2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724400" y="2057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C3B47"/>
                </a:solidFill>
                <a:latin typeface="Segoe UI" panose="020B0502040204020203" pitchFamily="34" charset="0"/>
              </a:rPr>
              <a:t>HẠN CHẾ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2552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Chỉ sử dụng dữ liệu rượu vang đỏ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32131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22252A"/>
                </a:solidFill>
                <a:latin typeface="Segoe UI" panose="020B0502040204020203" pitchFamily="34" charset="0"/>
              </a:rPr>
              <a:t>•  Quality phụ thuộc đánh giá cảm quan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244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22252A"/>
                </a:solidFill>
                <a:latin typeface="Segoe UI" panose="020B0502040204020203" pitchFamily="34" charset="0"/>
              </a:rPr>
              <a:t>•  Nhóm điểm hiếm còn ít mẫu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24400" y="45339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R² cho thấy vẫn còn biến thiên chưa giải thích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8229600" y="1739900"/>
            <a:ext cx="3352800" cy="393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534400" y="2057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000" b="1">
                <a:solidFill>
                  <a:srgbClr val="8C3B47"/>
                </a:solidFill>
                <a:latin typeface="Segoe UI" panose="020B0502040204020203" pitchFamily="34" charset="0"/>
              </a:rPr>
              <a:t>HƯỚNG PHÁT TRIỂN</a:t>
            </a:r>
            <a:endParaRPr lang="en-US" sz="1000" b="1">
              <a:solidFill>
                <a:srgbClr val="8C3B4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34400" y="2552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Mở rộng dữ liệu và loại rượu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34400" y="32131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450">
                <a:solidFill>
                  <a:srgbClr val="22252A"/>
                </a:solidFill>
                <a:latin typeface="Segoe UI" panose="020B0502040204020203" pitchFamily="34" charset="0"/>
              </a:rPr>
              <a:t>•  Bổ sung đặc trưng quy trình sản xuất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344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22252A"/>
                </a:solidFill>
                <a:latin typeface="Segoe UI" panose="020B0502040204020203" pitchFamily="34" charset="0"/>
              </a:rPr>
              <a:t>•  Giải thích dự đoán của mô hình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34400" y="45339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22252A"/>
                </a:solidFill>
                <a:latin typeface="Segoe UI" panose="020B0502040204020203" pitchFamily="34" charset="0"/>
              </a:rPr>
              <a:t>•  Theo dõi drift và tái huấn luyện</a:t>
            </a:r>
            <a:endParaRPr lang="en-US" sz="1450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600" y="5943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1350" b="1">
                <a:solidFill>
                  <a:srgbClr val="22252A"/>
                </a:solidFill>
                <a:latin typeface="Segoe UI" panose="020B0502040204020203" pitchFamily="34" charset="0"/>
              </a:rPr>
              <a:t>Thông điệp cuối: mô hình hỗ trợ đánh giá nhanh, nhưng cần thêm dữ liệu và giải thích để tăng độ tin cậy.</a:t>
            </a:r>
            <a:endParaRPr lang="en-US" sz="1350" b="1">
              <a:solidFill>
                <a:srgbClr val="22252A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7738</Words>
  <Application>WPS Presentation</Application>
  <PresentationFormat>Widescreen</PresentationFormat>
  <Paragraphs>580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Segoe UI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dung trinh</dc:creator>
  <cp:lastModifiedBy>Vũ Nguyễn Văn</cp:lastModifiedBy>
  <cp:revision>4</cp:revision>
  <dcterms:created xsi:type="dcterms:W3CDTF">2026-09-27T05:31:00Z</dcterms:created>
  <dcterms:modified xsi:type="dcterms:W3CDTF">2026-09-28T08:49:55Z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B87E1AD1625F4E7EB8298F4117A5098E_12</vt:lpwstr>
  </property>
  <property fmtid="{D5CDD505-2E9C-101B-9397-08002B2CF9AE}" pid="3" name="KSOProductBuildVer">
    <vt:lpwstr>1033-12.1.0.28485</vt:lpwstr>
  </property>
</Properties>
</file>